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7" r:id="rId3"/>
    <p:sldId id="261" r:id="rId4"/>
    <p:sldId id="274" r:id="rId5"/>
    <p:sldId id="260" r:id="rId6"/>
    <p:sldId id="262" r:id="rId7"/>
    <p:sldId id="263" r:id="rId8"/>
    <p:sldId id="265" r:id="rId9"/>
    <p:sldId id="264" r:id="rId10"/>
    <p:sldId id="266" r:id="rId11"/>
    <p:sldId id="278" r:id="rId12"/>
    <p:sldId id="267" r:id="rId13"/>
    <p:sldId id="268" r:id="rId14"/>
    <p:sldId id="273" r:id="rId15"/>
    <p:sldId id="269" r:id="rId16"/>
    <p:sldId id="270" r:id="rId17"/>
    <p:sldId id="271" r:id="rId18"/>
    <p:sldId id="272" r:id="rId19"/>
    <p:sldId id="275"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14"/>
    <p:restoredTop sz="79132"/>
  </p:normalViewPr>
  <p:slideViewPr>
    <p:cSldViewPr snapToGrid="0">
      <p:cViewPr varScale="1">
        <p:scale>
          <a:sx n="113" d="100"/>
          <a:sy n="113" d="100"/>
        </p:scale>
        <p:origin x="1680" y="168"/>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10144B-90E3-6847-B648-E4D8C09BABAC}" type="doc">
      <dgm:prSet loTypeId="urn:microsoft.com/office/officeart/2005/8/layout/arrow2" loCatId="process" qsTypeId="urn:microsoft.com/office/officeart/2005/8/quickstyle/simple1" qsCatId="simple" csTypeId="urn:microsoft.com/office/officeart/2005/8/colors/accent1_2" csCatId="accent1" phldr="1"/>
      <dgm:spPr/>
      <dgm:t>
        <a:bodyPr/>
        <a:lstStyle/>
        <a:p>
          <a:endParaRPr lang="en-US"/>
        </a:p>
      </dgm:t>
    </dgm:pt>
    <dgm:pt modelId="{C5216B97-1251-6F43-91DC-AB9CCA495734}">
      <dgm:prSet custT="1"/>
      <dgm:spPr/>
      <dgm:t>
        <a:bodyPr/>
        <a:lstStyle/>
        <a:p>
          <a:r>
            <a:rPr lang="en-US" sz="2400" dirty="0"/>
            <a:t>Freshman</a:t>
          </a:r>
          <a:endParaRPr lang="en-US" sz="2800" dirty="0"/>
        </a:p>
      </dgm:t>
    </dgm:pt>
    <dgm:pt modelId="{E8124126-769E-AA4E-A18E-28A7F7E48C4D}" type="parTrans" cxnId="{DBD3D2D4-DB69-8D48-AE04-22D4AF1777E1}">
      <dgm:prSet/>
      <dgm:spPr/>
      <dgm:t>
        <a:bodyPr/>
        <a:lstStyle/>
        <a:p>
          <a:endParaRPr lang="en-US"/>
        </a:p>
      </dgm:t>
    </dgm:pt>
    <dgm:pt modelId="{8A7B939E-5993-B848-AE3D-CBBAD4AF3AB3}" type="sibTrans" cxnId="{DBD3D2D4-DB69-8D48-AE04-22D4AF1777E1}">
      <dgm:prSet/>
      <dgm:spPr/>
      <dgm:t>
        <a:bodyPr/>
        <a:lstStyle/>
        <a:p>
          <a:endParaRPr lang="en-US"/>
        </a:p>
      </dgm:t>
    </dgm:pt>
    <dgm:pt modelId="{84FCF5C7-F8BE-5140-8C24-45CD2D9F60BE}">
      <dgm:prSet phldrT="[Text]" custT="1"/>
      <dgm:spPr/>
      <dgm:t>
        <a:bodyPr/>
        <a:lstStyle/>
        <a:p>
          <a:r>
            <a:rPr lang="en-US" sz="2400" dirty="0"/>
            <a:t>Sophomore</a:t>
          </a:r>
          <a:endParaRPr lang="en-US" sz="2800" dirty="0"/>
        </a:p>
      </dgm:t>
    </dgm:pt>
    <dgm:pt modelId="{FAFBE096-9FBD-E246-B639-8883FC2A7FF5}" type="parTrans" cxnId="{C6862D98-5913-304B-91D9-4AB618A093E1}">
      <dgm:prSet/>
      <dgm:spPr/>
      <dgm:t>
        <a:bodyPr/>
        <a:lstStyle/>
        <a:p>
          <a:endParaRPr lang="en-US"/>
        </a:p>
      </dgm:t>
    </dgm:pt>
    <dgm:pt modelId="{3B72CB6E-63CD-0B4C-8F7F-50B69112B535}" type="sibTrans" cxnId="{C6862D98-5913-304B-91D9-4AB618A093E1}">
      <dgm:prSet/>
      <dgm:spPr/>
      <dgm:t>
        <a:bodyPr/>
        <a:lstStyle/>
        <a:p>
          <a:endParaRPr lang="en-US"/>
        </a:p>
      </dgm:t>
    </dgm:pt>
    <dgm:pt modelId="{2A13A7A5-307D-834A-BFAD-762101EDE04A}">
      <dgm:prSet phldrT="[Text]" custT="1"/>
      <dgm:spPr/>
      <dgm:t>
        <a:bodyPr/>
        <a:lstStyle/>
        <a:p>
          <a:r>
            <a:rPr lang="en-US" sz="2400" dirty="0"/>
            <a:t>Junior / Senior</a:t>
          </a:r>
        </a:p>
      </dgm:t>
    </dgm:pt>
    <dgm:pt modelId="{953BFBE9-A6ED-7A46-A017-F899CDC8D6BA}" type="parTrans" cxnId="{5216666B-07E1-DE49-99A7-D40EC9AD1600}">
      <dgm:prSet/>
      <dgm:spPr/>
      <dgm:t>
        <a:bodyPr/>
        <a:lstStyle/>
        <a:p>
          <a:endParaRPr lang="en-US"/>
        </a:p>
      </dgm:t>
    </dgm:pt>
    <dgm:pt modelId="{D28FB1AA-80B0-BF41-9F61-4E2327363170}" type="sibTrans" cxnId="{5216666B-07E1-DE49-99A7-D40EC9AD1600}">
      <dgm:prSet/>
      <dgm:spPr/>
      <dgm:t>
        <a:bodyPr/>
        <a:lstStyle/>
        <a:p>
          <a:endParaRPr lang="en-US"/>
        </a:p>
      </dgm:t>
    </dgm:pt>
    <dgm:pt modelId="{0C699F3E-DA62-6545-B8EB-31BB4FF9E8B2}">
      <dgm:prSet phldrT="[Text]" custT="1"/>
      <dgm:spPr/>
      <dgm:t>
        <a:bodyPr/>
        <a:lstStyle/>
        <a:p>
          <a:r>
            <a:rPr lang="en-US" sz="2400" dirty="0"/>
            <a:t>Graduate</a:t>
          </a:r>
          <a:endParaRPr lang="en-US" sz="3300" dirty="0"/>
        </a:p>
      </dgm:t>
    </dgm:pt>
    <dgm:pt modelId="{E6C71DDA-C947-C84E-9112-8109B18599D6}" type="parTrans" cxnId="{904E7039-4CDE-8642-9011-E48228181264}">
      <dgm:prSet/>
      <dgm:spPr/>
      <dgm:t>
        <a:bodyPr/>
        <a:lstStyle/>
        <a:p>
          <a:endParaRPr lang="en-US"/>
        </a:p>
      </dgm:t>
    </dgm:pt>
    <dgm:pt modelId="{2788CCFB-6AAB-F34D-B17E-06EE9F79426B}" type="sibTrans" cxnId="{904E7039-4CDE-8642-9011-E48228181264}">
      <dgm:prSet/>
      <dgm:spPr/>
      <dgm:t>
        <a:bodyPr/>
        <a:lstStyle/>
        <a:p>
          <a:endParaRPr lang="en-US"/>
        </a:p>
      </dgm:t>
    </dgm:pt>
    <dgm:pt modelId="{2F9AB19D-8D18-AB4C-BC7D-C2BECA474775}" type="pres">
      <dgm:prSet presAssocID="{3010144B-90E3-6847-B648-E4D8C09BABAC}" presName="arrowDiagram" presStyleCnt="0">
        <dgm:presLayoutVars>
          <dgm:chMax val="5"/>
          <dgm:dir/>
          <dgm:resizeHandles val="exact"/>
        </dgm:presLayoutVars>
      </dgm:prSet>
      <dgm:spPr/>
    </dgm:pt>
    <dgm:pt modelId="{713FB0B5-9CCC-4C4F-AB8D-954E816E87E2}" type="pres">
      <dgm:prSet presAssocID="{3010144B-90E3-6847-B648-E4D8C09BABAC}" presName="arrow" presStyleLbl="bgShp" presStyleIdx="0" presStyleCnt="1"/>
      <dgm:spPr/>
    </dgm:pt>
    <dgm:pt modelId="{3E818E6D-6631-A046-9377-F01424D277EA}" type="pres">
      <dgm:prSet presAssocID="{3010144B-90E3-6847-B648-E4D8C09BABAC}" presName="arrowDiagram4" presStyleCnt="0"/>
      <dgm:spPr/>
    </dgm:pt>
    <dgm:pt modelId="{74ED18C8-54EE-DD40-88E5-5D65BD5E78FD}" type="pres">
      <dgm:prSet presAssocID="{C5216B97-1251-6F43-91DC-AB9CCA495734}" presName="bullet4a" presStyleLbl="node1" presStyleIdx="0" presStyleCnt="4"/>
      <dgm:spPr/>
    </dgm:pt>
    <dgm:pt modelId="{911B7607-D6FD-094B-8E3C-4CF290747719}" type="pres">
      <dgm:prSet presAssocID="{C5216B97-1251-6F43-91DC-AB9CCA495734}" presName="textBox4a" presStyleLbl="revTx" presStyleIdx="0" presStyleCnt="4">
        <dgm:presLayoutVars>
          <dgm:bulletEnabled val="1"/>
        </dgm:presLayoutVars>
      </dgm:prSet>
      <dgm:spPr/>
    </dgm:pt>
    <dgm:pt modelId="{71ABE372-2A43-3C48-A968-45465702C9E2}" type="pres">
      <dgm:prSet presAssocID="{84FCF5C7-F8BE-5140-8C24-45CD2D9F60BE}" presName="bullet4b" presStyleLbl="node1" presStyleIdx="1" presStyleCnt="4"/>
      <dgm:spPr/>
    </dgm:pt>
    <dgm:pt modelId="{C4B69ADC-8E17-554E-B87F-2F9C63158FD4}" type="pres">
      <dgm:prSet presAssocID="{84FCF5C7-F8BE-5140-8C24-45CD2D9F60BE}" presName="textBox4b" presStyleLbl="revTx" presStyleIdx="1" presStyleCnt="4">
        <dgm:presLayoutVars>
          <dgm:bulletEnabled val="1"/>
        </dgm:presLayoutVars>
      </dgm:prSet>
      <dgm:spPr/>
    </dgm:pt>
    <dgm:pt modelId="{BA049E08-1D56-BE4F-B14B-348E5144EADA}" type="pres">
      <dgm:prSet presAssocID="{2A13A7A5-307D-834A-BFAD-762101EDE04A}" presName="bullet4c" presStyleLbl="node1" presStyleIdx="2" presStyleCnt="4"/>
      <dgm:spPr/>
    </dgm:pt>
    <dgm:pt modelId="{E512F6EE-C40C-B34C-AF73-4DEBC38E8F43}" type="pres">
      <dgm:prSet presAssocID="{2A13A7A5-307D-834A-BFAD-762101EDE04A}" presName="textBox4c" presStyleLbl="revTx" presStyleIdx="2" presStyleCnt="4">
        <dgm:presLayoutVars>
          <dgm:bulletEnabled val="1"/>
        </dgm:presLayoutVars>
      </dgm:prSet>
      <dgm:spPr/>
    </dgm:pt>
    <dgm:pt modelId="{16D233C6-49B1-D940-8F1E-6029BB737ECF}" type="pres">
      <dgm:prSet presAssocID="{0C699F3E-DA62-6545-B8EB-31BB4FF9E8B2}" presName="bullet4d" presStyleLbl="node1" presStyleIdx="3" presStyleCnt="4"/>
      <dgm:spPr/>
    </dgm:pt>
    <dgm:pt modelId="{CD05554F-E1F1-C340-A00E-F4D796686CB9}" type="pres">
      <dgm:prSet presAssocID="{0C699F3E-DA62-6545-B8EB-31BB4FF9E8B2}" presName="textBox4d" presStyleLbl="revTx" presStyleIdx="3" presStyleCnt="4">
        <dgm:presLayoutVars>
          <dgm:bulletEnabled val="1"/>
        </dgm:presLayoutVars>
      </dgm:prSet>
      <dgm:spPr/>
    </dgm:pt>
  </dgm:ptLst>
  <dgm:cxnLst>
    <dgm:cxn modelId="{641FA318-ADD3-0A43-B179-3183C2B26787}" type="presOf" srcId="{84FCF5C7-F8BE-5140-8C24-45CD2D9F60BE}" destId="{C4B69ADC-8E17-554E-B87F-2F9C63158FD4}" srcOrd="0" destOrd="0" presId="urn:microsoft.com/office/officeart/2005/8/layout/arrow2"/>
    <dgm:cxn modelId="{904E7039-4CDE-8642-9011-E48228181264}" srcId="{3010144B-90E3-6847-B648-E4D8C09BABAC}" destId="{0C699F3E-DA62-6545-B8EB-31BB4FF9E8B2}" srcOrd="3" destOrd="0" parTransId="{E6C71DDA-C947-C84E-9112-8109B18599D6}" sibTransId="{2788CCFB-6AAB-F34D-B17E-06EE9F79426B}"/>
    <dgm:cxn modelId="{1780833E-84C7-E745-87DF-F7AEAD37E4A2}" type="presOf" srcId="{0C699F3E-DA62-6545-B8EB-31BB4FF9E8B2}" destId="{CD05554F-E1F1-C340-A00E-F4D796686CB9}" srcOrd="0" destOrd="0" presId="urn:microsoft.com/office/officeart/2005/8/layout/arrow2"/>
    <dgm:cxn modelId="{CB36565D-5D57-9142-B106-0C67501E706A}" type="presOf" srcId="{2A13A7A5-307D-834A-BFAD-762101EDE04A}" destId="{E512F6EE-C40C-B34C-AF73-4DEBC38E8F43}" srcOrd="0" destOrd="0" presId="urn:microsoft.com/office/officeart/2005/8/layout/arrow2"/>
    <dgm:cxn modelId="{5216666B-07E1-DE49-99A7-D40EC9AD1600}" srcId="{3010144B-90E3-6847-B648-E4D8C09BABAC}" destId="{2A13A7A5-307D-834A-BFAD-762101EDE04A}" srcOrd="2" destOrd="0" parTransId="{953BFBE9-A6ED-7A46-A017-F899CDC8D6BA}" sibTransId="{D28FB1AA-80B0-BF41-9F61-4E2327363170}"/>
    <dgm:cxn modelId="{C6862D98-5913-304B-91D9-4AB618A093E1}" srcId="{3010144B-90E3-6847-B648-E4D8C09BABAC}" destId="{84FCF5C7-F8BE-5140-8C24-45CD2D9F60BE}" srcOrd="1" destOrd="0" parTransId="{FAFBE096-9FBD-E246-B639-8883FC2A7FF5}" sibTransId="{3B72CB6E-63CD-0B4C-8F7F-50B69112B535}"/>
    <dgm:cxn modelId="{821EB9B1-0B48-BA45-9BCE-E1640B57D652}" type="presOf" srcId="{C5216B97-1251-6F43-91DC-AB9CCA495734}" destId="{911B7607-D6FD-094B-8E3C-4CF290747719}" srcOrd="0" destOrd="0" presId="urn:microsoft.com/office/officeart/2005/8/layout/arrow2"/>
    <dgm:cxn modelId="{DBD3D2D4-DB69-8D48-AE04-22D4AF1777E1}" srcId="{3010144B-90E3-6847-B648-E4D8C09BABAC}" destId="{C5216B97-1251-6F43-91DC-AB9CCA495734}" srcOrd="0" destOrd="0" parTransId="{E8124126-769E-AA4E-A18E-28A7F7E48C4D}" sibTransId="{8A7B939E-5993-B848-AE3D-CBBAD4AF3AB3}"/>
    <dgm:cxn modelId="{43D156F0-9484-FD4C-9D5D-8EF51358CB13}" type="presOf" srcId="{3010144B-90E3-6847-B648-E4D8C09BABAC}" destId="{2F9AB19D-8D18-AB4C-BC7D-C2BECA474775}" srcOrd="0" destOrd="0" presId="urn:microsoft.com/office/officeart/2005/8/layout/arrow2"/>
    <dgm:cxn modelId="{CCA2D2F2-11F6-684A-8070-683435611B15}" type="presParOf" srcId="{2F9AB19D-8D18-AB4C-BC7D-C2BECA474775}" destId="{713FB0B5-9CCC-4C4F-AB8D-954E816E87E2}" srcOrd="0" destOrd="0" presId="urn:microsoft.com/office/officeart/2005/8/layout/arrow2"/>
    <dgm:cxn modelId="{DCE3DB23-0010-394E-A5B5-60C11FF1DA46}" type="presParOf" srcId="{2F9AB19D-8D18-AB4C-BC7D-C2BECA474775}" destId="{3E818E6D-6631-A046-9377-F01424D277EA}" srcOrd="1" destOrd="0" presId="urn:microsoft.com/office/officeart/2005/8/layout/arrow2"/>
    <dgm:cxn modelId="{A2D91902-00B8-7E4B-9191-CA536B55880E}" type="presParOf" srcId="{3E818E6D-6631-A046-9377-F01424D277EA}" destId="{74ED18C8-54EE-DD40-88E5-5D65BD5E78FD}" srcOrd="0" destOrd="0" presId="urn:microsoft.com/office/officeart/2005/8/layout/arrow2"/>
    <dgm:cxn modelId="{EDB4DAA2-1764-B34A-81E7-2EF3FD3B4790}" type="presParOf" srcId="{3E818E6D-6631-A046-9377-F01424D277EA}" destId="{911B7607-D6FD-094B-8E3C-4CF290747719}" srcOrd="1" destOrd="0" presId="urn:microsoft.com/office/officeart/2005/8/layout/arrow2"/>
    <dgm:cxn modelId="{917CE6BB-197C-BA42-A93E-7AAE9EFA4E49}" type="presParOf" srcId="{3E818E6D-6631-A046-9377-F01424D277EA}" destId="{71ABE372-2A43-3C48-A968-45465702C9E2}" srcOrd="2" destOrd="0" presId="urn:microsoft.com/office/officeart/2005/8/layout/arrow2"/>
    <dgm:cxn modelId="{4F880109-1BC5-A04D-B7D4-1FF02B277BC8}" type="presParOf" srcId="{3E818E6D-6631-A046-9377-F01424D277EA}" destId="{C4B69ADC-8E17-554E-B87F-2F9C63158FD4}" srcOrd="3" destOrd="0" presId="urn:microsoft.com/office/officeart/2005/8/layout/arrow2"/>
    <dgm:cxn modelId="{0FFEED03-39BE-1045-B03A-191F62C04230}" type="presParOf" srcId="{3E818E6D-6631-A046-9377-F01424D277EA}" destId="{BA049E08-1D56-BE4F-B14B-348E5144EADA}" srcOrd="4" destOrd="0" presId="urn:microsoft.com/office/officeart/2005/8/layout/arrow2"/>
    <dgm:cxn modelId="{06CE4299-A481-1748-87D4-61DEFE59255B}" type="presParOf" srcId="{3E818E6D-6631-A046-9377-F01424D277EA}" destId="{E512F6EE-C40C-B34C-AF73-4DEBC38E8F43}" srcOrd="5" destOrd="0" presId="urn:microsoft.com/office/officeart/2005/8/layout/arrow2"/>
    <dgm:cxn modelId="{BBA2AA92-2E37-CF42-95D9-03752329DB66}" type="presParOf" srcId="{3E818E6D-6631-A046-9377-F01424D277EA}" destId="{16D233C6-49B1-D940-8F1E-6029BB737ECF}" srcOrd="6" destOrd="0" presId="urn:microsoft.com/office/officeart/2005/8/layout/arrow2"/>
    <dgm:cxn modelId="{0B1465D5-2349-114C-B31A-D11083C4D2CB}" type="presParOf" srcId="{3E818E6D-6631-A046-9377-F01424D277EA}" destId="{CD05554F-E1F1-C340-A00E-F4D796686CB9}"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FB0B5-9CCC-4C4F-AB8D-954E816E87E2}">
      <dsp:nvSpPr>
        <dsp:cNvPr id="0" name=""/>
        <dsp:cNvSpPr/>
      </dsp:nvSpPr>
      <dsp:spPr>
        <a:xfrm>
          <a:off x="807719" y="0"/>
          <a:ext cx="9916160" cy="61976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ED18C8-54EE-DD40-88E5-5D65BD5E78FD}">
      <dsp:nvSpPr>
        <dsp:cNvPr id="0" name=""/>
        <dsp:cNvSpPr/>
      </dsp:nvSpPr>
      <dsp:spPr>
        <a:xfrm>
          <a:off x="1784461" y="4608535"/>
          <a:ext cx="228071" cy="22807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1B7607-D6FD-094B-8E3C-4CF290747719}">
      <dsp:nvSpPr>
        <dsp:cNvPr id="0" name=""/>
        <dsp:cNvSpPr/>
      </dsp:nvSpPr>
      <dsp:spPr>
        <a:xfrm>
          <a:off x="1898497" y="4722571"/>
          <a:ext cx="1695663" cy="1475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5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Freshman</a:t>
          </a:r>
          <a:endParaRPr lang="en-US" sz="2800" kern="1200" dirty="0"/>
        </a:p>
      </dsp:txBody>
      <dsp:txXfrm>
        <a:off x="1898497" y="4722571"/>
        <a:ext cx="1695663" cy="1475028"/>
      </dsp:txXfrm>
    </dsp:sp>
    <dsp:sp modelId="{71ABE372-2A43-3C48-A968-45465702C9E2}">
      <dsp:nvSpPr>
        <dsp:cNvPr id="0" name=""/>
        <dsp:cNvSpPr/>
      </dsp:nvSpPr>
      <dsp:spPr>
        <a:xfrm>
          <a:off x="3395837" y="3166973"/>
          <a:ext cx="396646" cy="39664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B69ADC-8E17-554E-B87F-2F9C63158FD4}">
      <dsp:nvSpPr>
        <dsp:cNvPr id="0" name=""/>
        <dsp:cNvSpPr/>
      </dsp:nvSpPr>
      <dsp:spPr>
        <a:xfrm>
          <a:off x="3594160" y="3365296"/>
          <a:ext cx="2082393" cy="2832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0175"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Sophomore</a:t>
          </a:r>
          <a:endParaRPr lang="en-US" sz="2800" kern="1200" dirty="0"/>
        </a:p>
      </dsp:txBody>
      <dsp:txXfrm>
        <a:off x="3594160" y="3365296"/>
        <a:ext cx="2082393" cy="2832303"/>
      </dsp:txXfrm>
    </dsp:sp>
    <dsp:sp modelId="{BA049E08-1D56-BE4F-B14B-348E5144EADA}">
      <dsp:nvSpPr>
        <dsp:cNvPr id="0" name=""/>
        <dsp:cNvSpPr/>
      </dsp:nvSpPr>
      <dsp:spPr>
        <a:xfrm>
          <a:off x="5453440" y="2104704"/>
          <a:ext cx="525556" cy="52555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12F6EE-C40C-B34C-AF73-4DEBC38E8F43}">
      <dsp:nvSpPr>
        <dsp:cNvPr id="0" name=""/>
        <dsp:cNvSpPr/>
      </dsp:nvSpPr>
      <dsp:spPr>
        <a:xfrm>
          <a:off x="5716219" y="2367483"/>
          <a:ext cx="2082393" cy="3830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481"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Junior / Senior</a:t>
          </a:r>
        </a:p>
      </dsp:txBody>
      <dsp:txXfrm>
        <a:off x="5716219" y="2367483"/>
        <a:ext cx="2082393" cy="3830116"/>
      </dsp:txXfrm>
    </dsp:sp>
    <dsp:sp modelId="{16D233C6-49B1-D940-8F1E-6029BB737ECF}">
      <dsp:nvSpPr>
        <dsp:cNvPr id="0" name=""/>
        <dsp:cNvSpPr/>
      </dsp:nvSpPr>
      <dsp:spPr>
        <a:xfrm>
          <a:off x="7694493" y="1401897"/>
          <a:ext cx="704047" cy="70404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05554F-E1F1-C340-A00E-F4D796686CB9}">
      <dsp:nvSpPr>
        <dsp:cNvPr id="0" name=""/>
        <dsp:cNvSpPr/>
      </dsp:nvSpPr>
      <dsp:spPr>
        <a:xfrm>
          <a:off x="8046516" y="1753920"/>
          <a:ext cx="2082393" cy="4443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06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Graduate</a:t>
          </a:r>
          <a:endParaRPr lang="en-US" sz="3300" kern="1200" dirty="0"/>
        </a:p>
      </dsp:txBody>
      <dsp:txXfrm>
        <a:off x="8046516" y="1753920"/>
        <a:ext cx="2082393" cy="4443679"/>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9EEA58-1162-1C4C-966E-4BB90AE2C854}" type="datetimeFigureOut">
              <a:rPr lang="en-US" smtClean="0"/>
              <a:t>6/29/26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346F33-ABDE-784E-9DB1-2ACB9E6FCE5E}" type="slidenum">
              <a:rPr lang="en-US" smtClean="0"/>
              <a:t>‹#›</a:t>
            </a:fld>
            <a:endParaRPr lang="en-US"/>
          </a:p>
        </p:txBody>
      </p:sp>
    </p:spTree>
    <p:extLst>
      <p:ext uri="{BB962C8B-B14F-4D97-AF65-F5344CB8AC3E}">
        <p14:creationId xmlns:p14="http://schemas.microsoft.com/office/powerpoint/2010/main" val="602648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In our foundational programming courses, we have to stop treating Python like a syntax-memorization exercise and introduce the Digital </a:t>
            </a:r>
            <a:r>
              <a:rPr lang="en-US" i="1" dirty="0" err="1"/>
              <a:t>Tradescraft</a:t>
            </a:r>
            <a:r>
              <a:rPr lang="en-US" i="1" dirty="0"/>
              <a:t> model. </a:t>
            </a:r>
          </a:p>
          <a:p>
            <a:r>
              <a:rPr lang="en-US" i="1" dirty="0"/>
              <a:t>We briefly explain the boilerplate, but then immediately teach freshmen how to use local LLMs to generate it. </a:t>
            </a:r>
          </a:p>
          <a:p>
            <a:r>
              <a:rPr lang="en-US" i="1" dirty="0"/>
              <a:t>This forces them to focus entirely on logic and architecture using Agentic Agile.</a:t>
            </a:r>
            <a:endParaRPr lang="en-US" dirty="0"/>
          </a:p>
          <a:p>
            <a:r>
              <a:rPr lang="en-US" i="1" dirty="0"/>
              <a:t>But the real value here isn't just for the freshmen. </a:t>
            </a:r>
          </a:p>
          <a:p>
            <a:r>
              <a:rPr lang="en-US" i="1" dirty="0"/>
              <a:t>These massive courses become our laboratory for our Ph.D. teaching assistants. </a:t>
            </a:r>
          </a:p>
          <a:p>
            <a:r>
              <a:rPr lang="en-US" i="1" dirty="0"/>
              <a:t>We train them how to grade and assess these AI-augmented workflows. </a:t>
            </a:r>
          </a:p>
          <a:p>
            <a:r>
              <a:rPr lang="en-US" i="1" dirty="0"/>
              <a:t>When these Ph.D. students graduate and become faculty at other R1 institutions, they take this exact methodology with them, positioning UF as the epicenter of modern engineering pedagogy</a:t>
            </a:r>
            <a:endParaRPr lang="en-US" dirty="0"/>
          </a:p>
          <a:p>
            <a:endParaRPr lang="en-US" dirty="0"/>
          </a:p>
        </p:txBody>
      </p:sp>
      <p:sp>
        <p:nvSpPr>
          <p:cNvPr id="4" name="Slide Number Placeholder 3"/>
          <p:cNvSpPr>
            <a:spLocks noGrp="1"/>
          </p:cNvSpPr>
          <p:nvPr>
            <p:ph type="sldNum" sz="quarter" idx="5"/>
          </p:nvPr>
        </p:nvSpPr>
        <p:spPr/>
        <p:txBody>
          <a:bodyPr/>
          <a:lstStyle/>
          <a:p>
            <a:fld id="{7A346F33-ABDE-784E-9DB1-2ACB9E6FCE5E}" type="slidenum">
              <a:rPr lang="en-US" smtClean="0"/>
              <a:t>16</a:t>
            </a:fld>
            <a:endParaRPr lang="en-US"/>
          </a:p>
        </p:txBody>
      </p:sp>
    </p:spTree>
    <p:extLst>
      <p:ext uri="{BB962C8B-B14F-4D97-AF65-F5344CB8AC3E}">
        <p14:creationId xmlns:p14="http://schemas.microsoft.com/office/powerpoint/2010/main" val="2235270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As we move into the design and fundamentals core, we hit courses like EGN 2020C. This is where we introduce Personal AI. We have to walk freshmen through the harsh realization that an engineering solution or an AI model that works perfectly in one cultural context can fail catastrophically in another. It is a critical design constraint."</a:t>
            </a:r>
            <a:endParaRPr lang="en-US" dirty="0"/>
          </a:p>
          <a:p>
            <a:r>
              <a:rPr lang="en-US" i="1" dirty="0"/>
              <a:t>"Then, in AI Fundamentals (EEL 3872), we deploy our Personal AI concept. This acts as an individualized TA, allowing us to scale our teaching across the highly diverse learning speeds of hundreds of students, while formally introducing them to Agentic Agile model development."</a:t>
            </a:r>
            <a:endParaRPr lang="en-US" dirty="0"/>
          </a:p>
          <a:p>
            <a:r>
              <a:rPr lang="en-US" i="1" dirty="0"/>
              <a:t>"But again, the meta-goal here is for our </a:t>
            </a:r>
            <a:r>
              <a:rPr lang="en-US" i="1" dirty="0" err="1"/>
              <a:t>EEd</a:t>
            </a:r>
            <a:r>
              <a:rPr lang="en-US" i="1" dirty="0"/>
              <a:t> graduate students. These high-enrollment courses become their laboratory. By managing these AI-augmented sections, we are training our grad students to shift their future faculty roles away from being exhausted syntax-graders, and into being high-level engineering mentors.</a:t>
            </a:r>
            <a:endParaRPr lang="en-US" dirty="0"/>
          </a:p>
          <a:p>
            <a:endParaRPr lang="en-US" dirty="0"/>
          </a:p>
        </p:txBody>
      </p:sp>
      <p:sp>
        <p:nvSpPr>
          <p:cNvPr id="4" name="Slide Number Placeholder 3"/>
          <p:cNvSpPr>
            <a:spLocks noGrp="1"/>
          </p:cNvSpPr>
          <p:nvPr>
            <p:ph type="sldNum" sz="quarter" idx="5"/>
          </p:nvPr>
        </p:nvSpPr>
        <p:spPr/>
        <p:txBody>
          <a:bodyPr/>
          <a:lstStyle/>
          <a:p>
            <a:fld id="{7A346F33-ABDE-784E-9DB1-2ACB9E6FCE5E}" type="slidenum">
              <a:rPr lang="en-US" smtClean="0"/>
              <a:t>17</a:t>
            </a:fld>
            <a:endParaRPr lang="en-US"/>
          </a:p>
        </p:txBody>
      </p:sp>
    </p:spTree>
    <p:extLst>
      <p:ext uri="{BB962C8B-B14F-4D97-AF65-F5344CB8AC3E}">
        <p14:creationId xmlns:p14="http://schemas.microsoft.com/office/powerpoint/2010/main" val="2673112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the graduate pedagogy core—Research Methods and Learning &amp; Teaching. This is where the whole system closes the loop. The telemetry and data generated by thousands of freshmen using Agentic Agile doesn't just sit on a server; it becomes the raw dataset for our </a:t>
            </a:r>
            <a:r>
              <a:rPr lang="en-US" dirty="0" err="1"/>
              <a:t>EEd</a:t>
            </a:r>
            <a:r>
              <a:rPr lang="en-US" dirty="0"/>
              <a:t> graduate students. Instead of trying to conduct </a:t>
            </a:r>
            <a:r>
              <a:rPr lang="en-US" dirty="0" err="1"/>
              <a:t>SoTL</a:t>
            </a:r>
            <a:r>
              <a:rPr lang="en-US" dirty="0"/>
              <a:t> research in a vacuum, we use our foundational classes as a living laboratory. I mentor the grad students to analyze how Personal AI impacts cognitive load, and together we co-author the papers. We turn our own curriculum into a scalable publication engine.</a:t>
            </a:r>
          </a:p>
        </p:txBody>
      </p:sp>
      <p:sp>
        <p:nvSpPr>
          <p:cNvPr id="4" name="Slide Number Placeholder 3"/>
          <p:cNvSpPr>
            <a:spLocks noGrp="1"/>
          </p:cNvSpPr>
          <p:nvPr>
            <p:ph type="sldNum" sz="quarter" idx="5"/>
          </p:nvPr>
        </p:nvSpPr>
        <p:spPr/>
        <p:txBody>
          <a:bodyPr/>
          <a:lstStyle/>
          <a:p>
            <a:fld id="{7A346F33-ABDE-784E-9DB1-2ACB9E6FCE5E}" type="slidenum">
              <a:rPr lang="en-US" smtClean="0"/>
              <a:t>18</a:t>
            </a:fld>
            <a:endParaRPr lang="en-US"/>
          </a:p>
        </p:txBody>
      </p:sp>
    </p:spTree>
    <p:extLst>
      <p:ext uri="{BB962C8B-B14F-4D97-AF65-F5344CB8AC3E}">
        <p14:creationId xmlns:p14="http://schemas.microsoft.com/office/powerpoint/2010/main" val="3212342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the IPPD Capstones. Right now, engineering students build products for other engineers. As AI scales, that is no longer how the real world works. I propose expanding these multidisciplinary teams to include non-engineering disciplines—sociology, journalism, health. When our engineering students have to justify their AI pipeline to a public policy major, they are forced to deeply understand the human loop. But more importantly, they are engaging in covert pedagogy. By teaching their system to a non-technical peer, they are mastering the exact communication and teaching skills that industry demands from its technical leaders.</a:t>
            </a:r>
          </a:p>
        </p:txBody>
      </p:sp>
      <p:sp>
        <p:nvSpPr>
          <p:cNvPr id="4" name="Slide Number Placeholder 3"/>
          <p:cNvSpPr>
            <a:spLocks noGrp="1"/>
          </p:cNvSpPr>
          <p:nvPr>
            <p:ph type="sldNum" sz="quarter" idx="5"/>
          </p:nvPr>
        </p:nvSpPr>
        <p:spPr/>
        <p:txBody>
          <a:bodyPr/>
          <a:lstStyle/>
          <a:p>
            <a:fld id="{7A346F33-ABDE-784E-9DB1-2ACB9E6FCE5E}" type="slidenum">
              <a:rPr lang="en-US" smtClean="0"/>
              <a:t>19</a:t>
            </a:fld>
            <a:endParaRPr lang="en-US"/>
          </a:p>
        </p:txBody>
      </p:sp>
    </p:spTree>
    <p:extLst>
      <p:ext uri="{BB962C8B-B14F-4D97-AF65-F5344CB8AC3E}">
        <p14:creationId xmlns:p14="http://schemas.microsoft.com/office/powerpoint/2010/main" val="1435056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To be clear, I am not advocating that we stop teaching students how to code. I am advocating for a scaffolded integration of AI across the four-year curriculum.</a:t>
            </a:r>
            <a:r>
              <a:rPr lang="en-US" dirty="0"/>
              <a:t> &gt; </a:t>
            </a:r>
            <a:r>
              <a:rPr lang="en-US" i="1" dirty="0"/>
              <a:t>When they are Freshmen, the Personal AI acts as a Pair Programmer—helping them through the frustration of boilerplate syntax. By Sophomore year, because they aren't bogged down in syntax, they can use Agentic Agile to focus heavily on data structure and algorithm selection. By the time they are Juniors and Seniors, they are using AI exactly how they will in industry: managing complex, multi-agent systems in their capstones. Finally, our </a:t>
            </a:r>
            <a:r>
              <a:rPr lang="en-US" i="1" dirty="0" err="1"/>
              <a:t>EEd</a:t>
            </a:r>
            <a:r>
              <a:rPr lang="en-US" i="1" dirty="0"/>
              <a:t> Graduate students elevate the AI into a full Research Assistant. We aren't replacing foundational learning; we are using AI to accelerate them up Bloom's Taxonomy.</a:t>
            </a:r>
            <a:endParaRPr lang="en-US" dirty="0"/>
          </a:p>
        </p:txBody>
      </p:sp>
      <p:sp>
        <p:nvSpPr>
          <p:cNvPr id="4" name="Slide Number Placeholder 3"/>
          <p:cNvSpPr>
            <a:spLocks noGrp="1"/>
          </p:cNvSpPr>
          <p:nvPr>
            <p:ph type="sldNum" sz="quarter" idx="5"/>
          </p:nvPr>
        </p:nvSpPr>
        <p:spPr/>
        <p:txBody>
          <a:bodyPr/>
          <a:lstStyle/>
          <a:p>
            <a:fld id="{7A346F33-ABDE-784E-9DB1-2ACB9E6FCE5E}" type="slidenum">
              <a:rPr lang="en-US" smtClean="0"/>
              <a:t>20</a:t>
            </a:fld>
            <a:endParaRPr lang="en-US"/>
          </a:p>
        </p:txBody>
      </p:sp>
    </p:spTree>
    <p:extLst>
      <p:ext uri="{BB962C8B-B14F-4D97-AF65-F5344CB8AC3E}">
        <p14:creationId xmlns:p14="http://schemas.microsoft.com/office/powerpoint/2010/main" val="496644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5542-A8CE-A93A-1EE1-7C7ED1D7A0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4202C9-2E79-64C5-A102-89395E44D0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BC4D6E-0A54-F867-ED39-702A8C7D39AE}"/>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5" name="Footer Placeholder 4">
            <a:extLst>
              <a:ext uri="{FF2B5EF4-FFF2-40B4-BE49-F238E27FC236}">
                <a16:creationId xmlns:a16="http://schemas.microsoft.com/office/drawing/2014/main" id="{8CF5E87C-8013-DCC0-2B66-25496DB2E0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88CAE-BEE0-F136-3B36-77C4B802C807}"/>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145571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826A-C919-A42B-68D9-1096F0235B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4417D3-D742-652B-8121-281795FC1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CC052-6738-4EAD-314F-FE451D7DC934}"/>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5" name="Footer Placeholder 4">
            <a:extLst>
              <a:ext uri="{FF2B5EF4-FFF2-40B4-BE49-F238E27FC236}">
                <a16:creationId xmlns:a16="http://schemas.microsoft.com/office/drawing/2014/main" id="{716A982B-3223-66CA-A4AF-4A604D51FB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E702A-032D-A87E-DE2C-D25F2DA3BC7A}"/>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516946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69BAD-369E-6408-48A3-F597EAF940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55A99C-84B3-D1FD-E4A8-B074AFF648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4D765A-4DEF-C020-8A45-8B29574C4AAC}"/>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5" name="Footer Placeholder 4">
            <a:extLst>
              <a:ext uri="{FF2B5EF4-FFF2-40B4-BE49-F238E27FC236}">
                <a16:creationId xmlns:a16="http://schemas.microsoft.com/office/drawing/2014/main" id="{EE0E3F1D-23B4-4946-A93C-0891DEDDE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D98F84-B8AA-3529-0AB0-5AAF34A0DDBF}"/>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499513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501F3-36F0-C6DF-5C31-4C08894B91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294AB0-40F2-17A4-C5AC-6BB611B8E1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82432C-3356-9B43-1FEB-3919684EB8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556F0F-1FB5-2D9B-3AA5-6EC1F848CC5E}"/>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6" name="Footer Placeholder 5">
            <a:extLst>
              <a:ext uri="{FF2B5EF4-FFF2-40B4-BE49-F238E27FC236}">
                <a16:creationId xmlns:a16="http://schemas.microsoft.com/office/drawing/2014/main" id="{E300C1F6-F325-EC22-7084-520522991D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4F99A9-E9F4-5B7C-68BE-DF1DEFB53AC3}"/>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138939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7951-5B96-72AD-5235-41B92287C4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21DDB-7448-4C73-9CFE-5EA1C42EC6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CE4F9A-2612-4CA0-7B55-3E37A92FB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B1164F-409D-BE83-88BB-8135BB0CC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3F6717-BEE3-5305-01E7-5DEF32D18E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2D2B3B-C78C-C546-7A4F-85923AD4B85D}"/>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8" name="Footer Placeholder 7">
            <a:extLst>
              <a:ext uri="{FF2B5EF4-FFF2-40B4-BE49-F238E27FC236}">
                <a16:creationId xmlns:a16="http://schemas.microsoft.com/office/drawing/2014/main" id="{A4DD9F35-1B69-F6BA-58FD-8CEB5CFC59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2DE20C-2F3E-637B-7013-1DE53E789EAE}"/>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1057983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1A17-539B-1959-6E2B-41C955CCF3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04A20-204A-AD87-C9A5-D116DCE0E7C8}"/>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4" name="Footer Placeholder 3">
            <a:extLst>
              <a:ext uri="{FF2B5EF4-FFF2-40B4-BE49-F238E27FC236}">
                <a16:creationId xmlns:a16="http://schemas.microsoft.com/office/drawing/2014/main" id="{F77A095B-407E-8649-F7F1-487A5A4495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CB2F10-A004-F467-9F81-FCBF5D006492}"/>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211765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103BA-2648-DED0-D6AD-757798F75F9B}"/>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3" name="Footer Placeholder 2">
            <a:extLst>
              <a:ext uri="{FF2B5EF4-FFF2-40B4-BE49-F238E27FC236}">
                <a16:creationId xmlns:a16="http://schemas.microsoft.com/office/drawing/2014/main" id="{C8F51444-AA76-CB7D-9CFF-4CF54D1E79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C07FDD-465A-1199-9DFF-9B99599938F6}"/>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1800546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B4CB-6120-1530-4F96-443286D978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F1E33C-C666-CBA6-D356-D2B9E26D32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E9DF1B-EBE0-23BD-EE20-715D0C703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5C7950-4698-EC08-05D3-D5371915B4BF}"/>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6" name="Footer Placeholder 5">
            <a:extLst>
              <a:ext uri="{FF2B5EF4-FFF2-40B4-BE49-F238E27FC236}">
                <a16:creationId xmlns:a16="http://schemas.microsoft.com/office/drawing/2014/main" id="{2A9E2010-C023-3D6C-D36B-6CC85347DB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7D5863-FF53-F44B-3D10-4C202E629289}"/>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157338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A3DA8-7983-6C3F-5173-53184877C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BB0482-AAE7-69EB-A80A-17F6DED28B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14E5A9-0B60-8855-61DE-9252015371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56BE3D-B935-3D0B-2897-98AF487A9BDF}"/>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6" name="Footer Placeholder 5">
            <a:extLst>
              <a:ext uri="{FF2B5EF4-FFF2-40B4-BE49-F238E27FC236}">
                <a16:creationId xmlns:a16="http://schemas.microsoft.com/office/drawing/2014/main" id="{15B648B3-6B40-9097-17BC-16E1B6642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F8E8BB-BAE5-0CFB-76A2-B97266BF7AB6}"/>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3945098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73939-5CDE-57D8-2182-0B5895E787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1D4675-21FD-5B08-F7AE-E0A9592828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926E6-2EC0-68E9-D010-075AAC5B33BE}"/>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5" name="Footer Placeholder 4">
            <a:extLst>
              <a:ext uri="{FF2B5EF4-FFF2-40B4-BE49-F238E27FC236}">
                <a16:creationId xmlns:a16="http://schemas.microsoft.com/office/drawing/2014/main" id="{19FA7519-C797-B5C1-7BC1-0FE7F6619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2ACEF-E775-2A2D-B115-808F617F7C1D}"/>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721962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F5B75C-4594-B905-91A5-A453B43181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C1F6FF-FD90-E5B6-1CF6-526A182A69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7D01FF-A6F5-2879-685B-8AAF1336B4CA}"/>
              </a:ext>
            </a:extLst>
          </p:cNvPr>
          <p:cNvSpPr>
            <a:spLocks noGrp="1"/>
          </p:cNvSpPr>
          <p:nvPr>
            <p:ph type="dt" sz="half" idx="10"/>
          </p:nvPr>
        </p:nvSpPr>
        <p:spPr/>
        <p:txBody>
          <a:bodyPr/>
          <a:lstStyle/>
          <a:p>
            <a:fld id="{45C8CA52-DC1B-4746-BAB9-1F70156D5FED}" type="datetimeFigureOut">
              <a:rPr lang="en-US" smtClean="0"/>
              <a:t>6/29/26</a:t>
            </a:fld>
            <a:endParaRPr lang="en-US"/>
          </a:p>
        </p:txBody>
      </p:sp>
      <p:sp>
        <p:nvSpPr>
          <p:cNvPr id="5" name="Footer Placeholder 4">
            <a:extLst>
              <a:ext uri="{FF2B5EF4-FFF2-40B4-BE49-F238E27FC236}">
                <a16:creationId xmlns:a16="http://schemas.microsoft.com/office/drawing/2014/main" id="{952A15FB-1FD0-B846-CAD2-E93B6F141E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F7F7C7-0A5A-A795-B233-045D77A5FE8D}"/>
              </a:ext>
            </a:extLst>
          </p:cNvPr>
          <p:cNvSpPr>
            <a:spLocks noGrp="1"/>
          </p:cNvSpPr>
          <p:nvPr>
            <p:ph type="sldNum" sz="quarter" idx="12"/>
          </p:nvPr>
        </p:nvSpPr>
        <p:spPr/>
        <p:txBody>
          <a:bodyPr/>
          <a:lstStyle/>
          <a:p>
            <a:fld id="{C7E40593-4EB2-B746-ABF1-3F0A3F99E21A}" type="slidenum">
              <a:rPr lang="en-US" smtClean="0"/>
              <a:t>‹#›</a:t>
            </a:fld>
            <a:endParaRPr lang="en-US"/>
          </a:p>
        </p:txBody>
      </p:sp>
    </p:spTree>
    <p:extLst>
      <p:ext uri="{BB962C8B-B14F-4D97-AF65-F5344CB8AC3E}">
        <p14:creationId xmlns:p14="http://schemas.microsoft.com/office/powerpoint/2010/main" val="3690517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2A8D1C-93BE-C7D2-668A-D825B60B95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B06811-1762-B860-8BC6-91C451F0AD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A18B53-6DC2-46A1-59C7-0D2CCB308D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C8CA52-DC1B-4746-BAB9-1F70156D5FED}" type="datetimeFigureOut">
              <a:rPr lang="en-US" smtClean="0"/>
              <a:t>6/29/26</a:t>
            </a:fld>
            <a:endParaRPr lang="en-US"/>
          </a:p>
        </p:txBody>
      </p:sp>
      <p:sp>
        <p:nvSpPr>
          <p:cNvPr id="5" name="Footer Placeholder 4">
            <a:extLst>
              <a:ext uri="{FF2B5EF4-FFF2-40B4-BE49-F238E27FC236}">
                <a16:creationId xmlns:a16="http://schemas.microsoft.com/office/drawing/2014/main" id="{2C9A1FE4-FC1C-A413-7AAF-4CD91547D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4121C8-0763-F63C-FD9C-6274DD561B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E40593-4EB2-B746-ABF1-3F0A3F99E21A}" type="slidenum">
              <a:rPr lang="en-US" smtClean="0"/>
              <a:t>‹#›</a:t>
            </a:fld>
            <a:endParaRPr lang="en-US"/>
          </a:p>
        </p:txBody>
      </p:sp>
    </p:spTree>
    <p:extLst>
      <p:ext uri="{BB962C8B-B14F-4D97-AF65-F5344CB8AC3E}">
        <p14:creationId xmlns:p14="http://schemas.microsoft.com/office/powerpoint/2010/main" val="2622354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3D face graphic">
            <a:extLst>
              <a:ext uri="{FF2B5EF4-FFF2-40B4-BE49-F238E27FC236}">
                <a16:creationId xmlns:a16="http://schemas.microsoft.com/office/drawing/2014/main" id="{81FC8E8C-4E2D-5882-05DE-EDFE87B91F9C}"/>
              </a:ext>
            </a:extLst>
          </p:cNvPr>
          <p:cNvPicPr>
            <a:picLocks noChangeAspect="1"/>
          </p:cNvPicPr>
          <p:nvPr/>
        </p:nvPicPr>
        <p:blipFill>
          <a:blip r:embed="rId2">
            <a:alphaModFix amt="40000"/>
          </a:blip>
          <a:srcRect b="1000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37AA407-0FAE-044E-D02E-DBA8FCB36BE2}"/>
              </a:ext>
            </a:extLst>
          </p:cNvPr>
          <p:cNvSpPr>
            <a:spLocks noGrp="1"/>
          </p:cNvSpPr>
          <p:nvPr>
            <p:ph type="ctrTitle"/>
          </p:nvPr>
        </p:nvSpPr>
        <p:spPr>
          <a:xfrm>
            <a:off x="965200" y="965200"/>
            <a:ext cx="10261600" cy="3564869"/>
          </a:xfrm>
        </p:spPr>
        <p:txBody>
          <a:bodyPr>
            <a:normAutofit/>
          </a:bodyPr>
          <a:lstStyle/>
          <a:p>
            <a:pPr algn="l"/>
            <a:r>
              <a:rPr lang="en-US" sz="11500">
                <a:ln w="22225">
                  <a:solidFill>
                    <a:schemeClr val="tx1"/>
                  </a:solidFill>
                  <a:miter lim="800000"/>
                </a:ln>
                <a:noFill/>
              </a:rPr>
              <a:t>Vision</a:t>
            </a:r>
          </a:p>
        </p:txBody>
      </p:sp>
      <p:sp>
        <p:nvSpPr>
          <p:cNvPr id="3" name="Subtitle 2">
            <a:extLst>
              <a:ext uri="{FF2B5EF4-FFF2-40B4-BE49-F238E27FC236}">
                <a16:creationId xmlns:a16="http://schemas.microsoft.com/office/drawing/2014/main" id="{8C56C470-43C4-8DAD-A898-0EB93195C5AC}"/>
              </a:ext>
            </a:extLst>
          </p:cNvPr>
          <p:cNvSpPr>
            <a:spLocks noGrp="1"/>
          </p:cNvSpPr>
          <p:nvPr>
            <p:ph type="subTitle" idx="1"/>
          </p:nvPr>
        </p:nvSpPr>
        <p:spPr>
          <a:xfrm>
            <a:off x="965200" y="4572002"/>
            <a:ext cx="10261600" cy="1202995"/>
          </a:xfrm>
        </p:spPr>
        <p:txBody>
          <a:bodyPr>
            <a:normAutofit/>
          </a:bodyPr>
          <a:lstStyle/>
          <a:p>
            <a:pPr algn="l"/>
            <a:r>
              <a:rPr lang="en-US" sz="3200" dirty="0"/>
              <a:t>Dr. David Bracewell</a:t>
            </a:r>
          </a:p>
        </p:txBody>
      </p:sp>
    </p:spTree>
    <p:extLst>
      <p:ext uri="{BB962C8B-B14F-4D97-AF65-F5344CB8AC3E}">
        <p14:creationId xmlns:p14="http://schemas.microsoft.com/office/powerpoint/2010/main" val="72313779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9139-CD64-3416-D0AF-F7B8E293AB20}"/>
              </a:ext>
            </a:extLst>
          </p:cNvPr>
          <p:cNvSpPr>
            <a:spLocks noGrp="1"/>
          </p:cNvSpPr>
          <p:nvPr>
            <p:ph type="title"/>
          </p:nvPr>
        </p:nvSpPr>
        <p:spPr/>
        <p:txBody>
          <a:bodyPr/>
          <a:lstStyle/>
          <a:p>
            <a:r>
              <a:rPr lang="en-US" b="1" dirty="0"/>
              <a:t>Path to the Classroom: An Industry Perspective</a:t>
            </a:r>
          </a:p>
        </p:txBody>
      </p:sp>
      <p:sp>
        <p:nvSpPr>
          <p:cNvPr id="3" name="Content Placeholder 2">
            <a:extLst>
              <a:ext uri="{FF2B5EF4-FFF2-40B4-BE49-F238E27FC236}">
                <a16:creationId xmlns:a16="http://schemas.microsoft.com/office/drawing/2014/main" id="{86FBCA3D-9ACC-CDD6-D570-EA54214BAB59}"/>
              </a:ext>
            </a:extLst>
          </p:cNvPr>
          <p:cNvSpPr>
            <a:spLocks noGrp="1"/>
          </p:cNvSpPr>
          <p:nvPr>
            <p:ph idx="1"/>
          </p:nvPr>
        </p:nvSpPr>
        <p:spPr/>
        <p:txBody>
          <a:bodyPr/>
          <a:lstStyle/>
          <a:p>
            <a:r>
              <a:rPr lang="en-US" b="1" dirty="0"/>
              <a:t>20+ Years in Applied AI:</a:t>
            </a:r>
            <a:r>
              <a:rPr lang="en-US" dirty="0"/>
              <a:t> Principal Investigator and Principal Scientist building multimillion-dollar SaaS and federal systems (NSA, DoD, USSOCOM, etc.)</a:t>
            </a:r>
          </a:p>
          <a:p>
            <a:r>
              <a:rPr lang="en-US" b="1" dirty="0"/>
              <a:t>Hiring Manager:</a:t>
            </a:r>
            <a:r>
              <a:rPr lang="en-US" dirty="0"/>
              <a:t> Directly managed engineering pipelines from interns to seasoned professionals</a:t>
            </a:r>
          </a:p>
          <a:p>
            <a:r>
              <a:rPr lang="en-US" b="1" dirty="0"/>
              <a:t>Academic:</a:t>
            </a:r>
            <a:r>
              <a:rPr lang="en-US" dirty="0"/>
              <a:t> 7+ years of college-level teaching, has helped me in identifying the friction points between graduation and production readiness</a:t>
            </a:r>
          </a:p>
          <a:p>
            <a:endParaRPr lang="en-US" dirty="0"/>
          </a:p>
        </p:txBody>
      </p:sp>
    </p:spTree>
    <p:extLst>
      <p:ext uri="{BB962C8B-B14F-4D97-AF65-F5344CB8AC3E}">
        <p14:creationId xmlns:p14="http://schemas.microsoft.com/office/powerpoint/2010/main" val="3018358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A0A78-C495-EEDA-4923-8F4A36920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DA39F-D826-4415-99C8-863563A7B282}"/>
              </a:ext>
            </a:extLst>
          </p:cNvPr>
          <p:cNvSpPr>
            <a:spLocks noGrp="1"/>
          </p:cNvSpPr>
          <p:nvPr>
            <p:ph type="title"/>
          </p:nvPr>
        </p:nvSpPr>
        <p:spPr/>
        <p:txBody>
          <a:bodyPr/>
          <a:lstStyle/>
          <a:p>
            <a:r>
              <a:rPr lang="en-US" b="1" dirty="0"/>
              <a:t>The Skills Divide</a:t>
            </a:r>
            <a:endParaRPr lang="en-US" dirty="0"/>
          </a:p>
        </p:txBody>
      </p:sp>
      <p:sp>
        <p:nvSpPr>
          <p:cNvPr id="5" name="Text Placeholder 4">
            <a:extLst>
              <a:ext uri="{FF2B5EF4-FFF2-40B4-BE49-F238E27FC236}">
                <a16:creationId xmlns:a16="http://schemas.microsoft.com/office/drawing/2014/main" id="{88B62569-45DE-EEAE-F99C-D0E1552EDD49}"/>
              </a:ext>
            </a:extLst>
          </p:cNvPr>
          <p:cNvSpPr>
            <a:spLocks noGrp="1"/>
          </p:cNvSpPr>
          <p:nvPr>
            <p:ph type="body" idx="1"/>
          </p:nvPr>
        </p:nvSpPr>
        <p:spPr/>
        <p:txBody>
          <a:bodyPr/>
          <a:lstStyle/>
          <a:p>
            <a:r>
              <a:rPr lang="en-US" dirty="0"/>
              <a:t>Education (Computer Science)	</a:t>
            </a:r>
          </a:p>
        </p:txBody>
      </p:sp>
      <p:sp>
        <p:nvSpPr>
          <p:cNvPr id="3" name="Content Placeholder 2">
            <a:extLst>
              <a:ext uri="{FF2B5EF4-FFF2-40B4-BE49-F238E27FC236}">
                <a16:creationId xmlns:a16="http://schemas.microsoft.com/office/drawing/2014/main" id="{44CAFBA0-5D8E-16E9-5DCB-C562C1DE233F}"/>
              </a:ext>
            </a:extLst>
          </p:cNvPr>
          <p:cNvSpPr>
            <a:spLocks noGrp="1"/>
          </p:cNvSpPr>
          <p:nvPr>
            <p:ph sz="half" idx="2"/>
          </p:nvPr>
        </p:nvSpPr>
        <p:spPr/>
        <p:txBody>
          <a:bodyPr>
            <a:noAutofit/>
          </a:bodyPr>
          <a:lstStyle/>
          <a:p>
            <a:pPr>
              <a:lnSpc>
                <a:spcPct val="100000"/>
              </a:lnSpc>
              <a:spcBef>
                <a:spcPts val="400"/>
              </a:spcBef>
            </a:pPr>
            <a:r>
              <a:rPr lang="en-US" sz="2000" dirty="0"/>
              <a:t>Do a great job at teaching data structures, algorithms,  operating systems, database theory, </a:t>
            </a:r>
            <a:r>
              <a:rPr lang="en-US" sz="2000" dirty="0" err="1"/>
              <a:t>etc</a:t>
            </a:r>
            <a:endParaRPr lang="en-US" sz="2000" dirty="0"/>
          </a:p>
          <a:p>
            <a:pPr>
              <a:lnSpc>
                <a:spcPct val="100000"/>
              </a:lnSpc>
              <a:spcBef>
                <a:spcPts val="400"/>
              </a:spcBef>
            </a:pPr>
            <a:r>
              <a:rPr lang="en-US" sz="2000" dirty="0"/>
              <a:t>They spend less time on the applied engineering of developing systems</a:t>
            </a:r>
          </a:p>
          <a:p>
            <a:pPr>
              <a:lnSpc>
                <a:spcPct val="100000"/>
              </a:lnSpc>
              <a:spcBef>
                <a:spcPts val="400"/>
              </a:spcBef>
            </a:pPr>
            <a:r>
              <a:rPr lang="en-US" sz="2000" dirty="0"/>
              <a:t>Students learn how to use dynamic programming in the classroom, but cannot recognize it in real code</a:t>
            </a:r>
          </a:p>
          <a:p>
            <a:pPr>
              <a:lnSpc>
                <a:spcPct val="100000"/>
              </a:lnSpc>
              <a:spcBef>
                <a:spcPts val="400"/>
              </a:spcBef>
            </a:pPr>
            <a:r>
              <a:rPr lang="en-US" sz="2000" dirty="0"/>
              <a:t>Capstone projects help, but cannot fully simulate the daily grind of a being an engineer</a:t>
            </a:r>
          </a:p>
        </p:txBody>
      </p:sp>
      <p:sp>
        <p:nvSpPr>
          <p:cNvPr id="6" name="Text Placeholder 5">
            <a:extLst>
              <a:ext uri="{FF2B5EF4-FFF2-40B4-BE49-F238E27FC236}">
                <a16:creationId xmlns:a16="http://schemas.microsoft.com/office/drawing/2014/main" id="{F8B002F7-1251-C979-96F7-5D5AF100601E}"/>
              </a:ext>
            </a:extLst>
          </p:cNvPr>
          <p:cNvSpPr>
            <a:spLocks noGrp="1"/>
          </p:cNvSpPr>
          <p:nvPr>
            <p:ph type="body" sz="quarter" idx="3"/>
          </p:nvPr>
        </p:nvSpPr>
        <p:spPr/>
        <p:txBody>
          <a:bodyPr/>
          <a:lstStyle/>
          <a:p>
            <a:r>
              <a:rPr lang="en-US" dirty="0"/>
              <a:t>Industry</a:t>
            </a:r>
          </a:p>
        </p:txBody>
      </p:sp>
      <p:sp>
        <p:nvSpPr>
          <p:cNvPr id="7" name="Content Placeholder 6">
            <a:extLst>
              <a:ext uri="{FF2B5EF4-FFF2-40B4-BE49-F238E27FC236}">
                <a16:creationId xmlns:a16="http://schemas.microsoft.com/office/drawing/2014/main" id="{4EDC40BF-9497-22D7-C368-20FDC25E05EE}"/>
              </a:ext>
            </a:extLst>
          </p:cNvPr>
          <p:cNvSpPr>
            <a:spLocks noGrp="1"/>
          </p:cNvSpPr>
          <p:nvPr>
            <p:ph sz="quarter" idx="4"/>
          </p:nvPr>
        </p:nvSpPr>
        <p:spPr/>
        <p:txBody>
          <a:bodyPr>
            <a:noAutofit/>
          </a:bodyPr>
          <a:lstStyle/>
          <a:p>
            <a:pPr>
              <a:lnSpc>
                <a:spcPct val="100000"/>
              </a:lnSpc>
              <a:spcBef>
                <a:spcPts val="400"/>
              </a:spcBef>
            </a:pPr>
            <a:r>
              <a:rPr lang="en-US" sz="2000" dirty="0"/>
              <a:t>What they learn is a small percentage of what they do</a:t>
            </a:r>
          </a:p>
          <a:p>
            <a:pPr lvl="1">
              <a:lnSpc>
                <a:spcPct val="100000"/>
              </a:lnSpc>
              <a:spcBef>
                <a:spcPts val="400"/>
              </a:spcBef>
            </a:pPr>
            <a:r>
              <a:rPr lang="en-US" sz="2000" dirty="0"/>
              <a:t>What is version control?</a:t>
            </a:r>
          </a:p>
          <a:p>
            <a:pPr lvl="1">
              <a:lnSpc>
                <a:spcPct val="100000"/>
              </a:lnSpc>
              <a:spcBef>
                <a:spcPts val="400"/>
              </a:spcBef>
            </a:pPr>
            <a:r>
              <a:rPr lang="en-US" sz="2000" dirty="0"/>
              <a:t>What is Agile, a sprint, a user story?</a:t>
            </a:r>
          </a:p>
          <a:p>
            <a:pPr lvl="1">
              <a:lnSpc>
                <a:spcPct val="100000"/>
              </a:lnSpc>
              <a:spcBef>
                <a:spcPts val="400"/>
              </a:spcBef>
            </a:pPr>
            <a:r>
              <a:rPr lang="en-US" sz="2000" dirty="0"/>
              <a:t>How to make the leap from programming assignments to large complex applications with legacy code? </a:t>
            </a:r>
          </a:p>
          <a:p>
            <a:pPr lvl="1">
              <a:lnSpc>
                <a:spcPct val="100000"/>
              </a:lnSpc>
              <a:spcBef>
                <a:spcPts val="400"/>
              </a:spcBef>
            </a:pPr>
            <a:r>
              <a:rPr lang="en-US" sz="2000" dirty="0"/>
              <a:t>What does engineering software mean?</a:t>
            </a:r>
          </a:p>
          <a:p>
            <a:pPr lvl="1">
              <a:lnSpc>
                <a:spcPct val="100000"/>
              </a:lnSpc>
              <a:spcBef>
                <a:spcPts val="400"/>
              </a:spcBef>
            </a:pPr>
            <a:r>
              <a:rPr lang="en-US" sz="2000" dirty="0"/>
              <a:t>How to relate the in-class problems to real-word solutions?</a:t>
            </a:r>
          </a:p>
        </p:txBody>
      </p:sp>
    </p:spTree>
    <p:extLst>
      <p:ext uri="{BB962C8B-B14F-4D97-AF65-F5344CB8AC3E}">
        <p14:creationId xmlns:p14="http://schemas.microsoft.com/office/powerpoint/2010/main" val="225865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1F2B3-ADF3-3CCC-7B4D-DD7BDAD4E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15D05-17A4-63F0-E805-B80B04780151}"/>
              </a:ext>
            </a:extLst>
          </p:cNvPr>
          <p:cNvSpPr>
            <a:spLocks noGrp="1"/>
          </p:cNvSpPr>
          <p:nvPr>
            <p:ph type="title"/>
          </p:nvPr>
        </p:nvSpPr>
        <p:spPr/>
        <p:txBody>
          <a:bodyPr/>
          <a:lstStyle/>
          <a:p>
            <a:r>
              <a:rPr lang="en-US" b="1" dirty="0"/>
              <a:t>AI can bridge or enlarge the divide</a:t>
            </a:r>
            <a:endParaRPr lang="en-US" dirty="0"/>
          </a:p>
        </p:txBody>
      </p:sp>
      <p:sp>
        <p:nvSpPr>
          <p:cNvPr id="5" name="Text Placeholder 4">
            <a:extLst>
              <a:ext uri="{FF2B5EF4-FFF2-40B4-BE49-F238E27FC236}">
                <a16:creationId xmlns:a16="http://schemas.microsoft.com/office/drawing/2014/main" id="{80B40EF1-7B3C-085F-DFC1-3D82B7236009}"/>
              </a:ext>
            </a:extLst>
          </p:cNvPr>
          <p:cNvSpPr>
            <a:spLocks noGrp="1"/>
          </p:cNvSpPr>
          <p:nvPr>
            <p:ph type="body" idx="1"/>
          </p:nvPr>
        </p:nvSpPr>
        <p:spPr/>
        <p:txBody>
          <a:bodyPr/>
          <a:lstStyle/>
          <a:p>
            <a:r>
              <a:rPr lang="en-US" dirty="0"/>
              <a:t>Past to Present</a:t>
            </a:r>
          </a:p>
        </p:txBody>
      </p:sp>
      <p:sp>
        <p:nvSpPr>
          <p:cNvPr id="3" name="Content Placeholder 2">
            <a:extLst>
              <a:ext uri="{FF2B5EF4-FFF2-40B4-BE49-F238E27FC236}">
                <a16:creationId xmlns:a16="http://schemas.microsoft.com/office/drawing/2014/main" id="{F853EAA8-B591-4301-1EE5-63D181B581A4}"/>
              </a:ext>
            </a:extLst>
          </p:cNvPr>
          <p:cNvSpPr>
            <a:spLocks noGrp="1"/>
          </p:cNvSpPr>
          <p:nvPr>
            <p:ph sz="half" idx="2"/>
          </p:nvPr>
        </p:nvSpPr>
        <p:spPr/>
        <p:txBody>
          <a:bodyPr>
            <a:noAutofit/>
          </a:bodyPr>
          <a:lstStyle/>
          <a:p>
            <a:pPr>
              <a:lnSpc>
                <a:spcPct val="100000"/>
              </a:lnSpc>
              <a:spcBef>
                <a:spcPts val="400"/>
              </a:spcBef>
            </a:pPr>
            <a:r>
              <a:rPr lang="en-US" sz="2000" dirty="0"/>
              <a:t>Largely an academic pursuit with new models proposed in academia and daring organizations trying to apply them in production</a:t>
            </a:r>
          </a:p>
          <a:p>
            <a:pPr>
              <a:lnSpc>
                <a:spcPct val="100000"/>
              </a:lnSpc>
              <a:spcBef>
                <a:spcPts val="400"/>
              </a:spcBef>
            </a:pPr>
            <a:r>
              <a:rPr lang="en-US" sz="2000" dirty="0"/>
              <a:t>As it became more routine, the gap between AI/Machine learning theory taught in school and actual practice was huge</a:t>
            </a:r>
          </a:p>
          <a:p>
            <a:pPr>
              <a:lnSpc>
                <a:spcPct val="100000"/>
              </a:lnSpc>
              <a:spcBef>
                <a:spcPts val="400"/>
              </a:spcBef>
            </a:pPr>
            <a:r>
              <a:rPr lang="en-US" sz="2000" b="1" dirty="0"/>
              <a:t>Fast forward to now</a:t>
            </a:r>
            <a:r>
              <a:rPr lang="en-US" sz="2000" dirty="0"/>
              <a:t>: AI and machine learning are no longer a nice to have, they are baked into the products we use everyday</a:t>
            </a:r>
          </a:p>
        </p:txBody>
      </p:sp>
      <p:sp>
        <p:nvSpPr>
          <p:cNvPr id="6" name="Text Placeholder 5">
            <a:extLst>
              <a:ext uri="{FF2B5EF4-FFF2-40B4-BE49-F238E27FC236}">
                <a16:creationId xmlns:a16="http://schemas.microsoft.com/office/drawing/2014/main" id="{DC30AEF2-3B64-F5C2-AFFC-CCA2C7ABF028}"/>
              </a:ext>
            </a:extLst>
          </p:cNvPr>
          <p:cNvSpPr>
            <a:spLocks noGrp="1"/>
          </p:cNvSpPr>
          <p:nvPr>
            <p:ph type="body" sz="quarter" idx="3"/>
          </p:nvPr>
        </p:nvSpPr>
        <p:spPr/>
        <p:txBody>
          <a:bodyPr/>
          <a:lstStyle/>
          <a:p>
            <a:r>
              <a:rPr lang="en-US" dirty="0"/>
              <a:t>The 21st Century Digital </a:t>
            </a:r>
            <a:r>
              <a:rPr lang="en-US" dirty="0" err="1"/>
              <a:t>Tradescraft</a:t>
            </a:r>
            <a:r>
              <a:rPr lang="en-US" dirty="0"/>
              <a:t> </a:t>
            </a:r>
          </a:p>
        </p:txBody>
      </p:sp>
      <p:sp>
        <p:nvSpPr>
          <p:cNvPr id="7" name="Content Placeholder 6">
            <a:extLst>
              <a:ext uri="{FF2B5EF4-FFF2-40B4-BE49-F238E27FC236}">
                <a16:creationId xmlns:a16="http://schemas.microsoft.com/office/drawing/2014/main" id="{27EFBD36-3895-35DB-3B37-AC938C133E4A}"/>
              </a:ext>
            </a:extLst>
          </p:cNvPr>
          <p:cNvSpPr>
            <a:spLocks noGrp="1"/>
          </p:cNvSpPr>
          <p:nvPr>
            <p:ph sz="quarter" idx="4"/>
          </p:nvPr>
        </p:nvSpPr>
        <p:spPr/>
        <p:txBody>
          <a:bodyPr>
            <a:noAutofit/>
          </a:bodyPr>
          <a:lstStyle/>
          <a:p>
            <a:pPr>
              <a:lnSpc>
                <a:spcPct val="100000"/>
              </a:lnSpc>
            </a:pPr>
            <a:r>
              <a:rPr lang="en-US" sz="2000" dirty="0"/>
              <a:t>AI is the new foundational infrastructure, much like electrical grids or plumbing</a:t>
            </a:r>
          </a:p>
          <a:p>
            <a:pPr>
              <a:lnSpc>
                <a:spcPct val="100000"/>
              </a:lnSpc>
            </a:pPr>
            <a:r>
              <a:rPr lang="en-US" sz="2000" dirty="0"/>
              <a:t>Educational institutions must pivot from producing pure "thinkers" to also producing "doers"</a:t>
            </a:r>
          </a:p>
          <a:p>
            <a:pPr>
              <a:lnSpc>
                <a:spcPct val="100000"/>
              </a:lnSpc>
            </a:pPr>
            <a:r>
              <a:rPr lang="en-US" sz="2000" dirty="0"/>
              <a:t>Next generation engineers and engineering educators need to be equally capable of pontificating the merits of a particular AI model or architecture as they can roll up their sleeves and put theory to practice</a:t>
            </a:r>
          </a:p>
        </p:txBody>
      </p:sp>
    </p:spTree>
    <p:extLst>
      <p:ext uri="{BB962C8B-B14F-4D97-AF65-F5344CB8AC3E}">
        <p14:creationId xmlns:p14="http://schemas.microsoft.com/office/powerpoint/2010/main" val="2191004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66037-158A-882F-E550-4F6967EC6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45075-16BB-AAC3-6573-674480BB8D2E}"/>
              </a:ext>
            </a:extLst>
          </p:cNvPr>
          <p:cNvSpPr>
            <a:spLocks noGrp="1"/>
          </p:cNvSpPr>
          <p:nvPr>
            <p:ph type="title"/>
          </p:nvPr>
        </p:nvSpPr>
        <p:spPr/>
        <p:txBody>
          <a:bodyPr/>
          <a:lstStyle/>
          <a:p>
            <a:r>
              <a:rPr lang="en-US" b="1" dirty="0"/>
              <a:t>What does this mean for education?</a:t>
            </a:r>
          </a:p>
        </p:txBody>
      </p:sp>
      <p:sp>
        <p:nvSpPr>
          <p:cNvPr id="3" name="Content Placeholder 2">
            <a:extLst>
              <a:ext uri="{FF2B5EF4-FFF2-40B4-BE49-F238E27FC236}">
                <a16:creationId xmlns:a16="http://schemas.microsoft.com/office/drawing/2014/main" id="{474FD210-602A-DC30-FDA2-798803DC7881}"/>
              </a:ext>
            </a:extLst>
          </p:cNvPr>
          <p:cNvSpPr>
            <a:spLocks noGrp="1"/>
          </p:cNvSpPr>
          <p:nvPr>
            <p:ph idx="1"/>
          </p:nvPr>
        </p:nvSpPr>
        <p:spPr/>
        <p:txBody>
          <a:bodyPr>
            <a:normAutofit/>
          </a:bodyPr>
          <a:lstStyle/>
          <a:p>
            <a:r>
              <a:rPr lang="en-US" dirty="0"/>
              <a:t>Applied AI programs cannot just teach students what supervised/unsupervised learning is or how a Transformer works, instead, they must train a new class of </a:t>
            </a:r>
            <a:r>
              <a:rPr lang="en-US" b="1" dirty="0"/>
              <a:t>Applied</a:t>
            </a:r>
            <a:r>
              <a:rPr lang="en-US" dirty="0"/>
              <a:t> </a:t>
            </a:r>
            <a:r>
              <a:rPr lang="en-US" b="1" dirty="0"/>
              <a:t>AI Artisans</a:t>
            </a:r>
            <a:r>
              <a:rPr lang="en-US" dirty="0"/>
              <a:t> who know the theory and have the skills to put it into practice</a:t>
            </a:r>
          </a:p>
          <a:p>
            <a:r>
              <a:rPr lang="en-US" dirty="0"/>
              <a:t>Students need to be treated less like minds to mold and more like high-tech apprentices who are honing their craft by actively building, breaking, and deploying things in real-world environments and simulations</a:t>
            </a:r>
          </a:p>
          <a:p>
            <a:r>
              <a:rPr lang="en-US" b="1" dirty="0"/>
              <a:t>Brains</a:t>
            </a:r>
            <a:r>
              <a:rPr lang="en-US" dirty="0"/>
              <a:t> and </a:t>
            </a:r>
            <a:r>
              <a:rPr lang="en-US" b="1" dirty="0"/>
              <a:t>Hands</a:t>
            </a:r>
            <a:r>
              <a:rPr lang="en-US" dirty="0"/>
              <a:t> on</a:t>
            </a:r>
          </a:p>
        </p:txBody>
      </p:sp>
    </p:spTree>
    <p:extLst>
      <p:ext uri="{BB962C8B-B14F-4D97-AF65-F5344CB8AC3E}">
        <p14:creationId xmlns:p14="http://schemas.microsoft.com/office/powerpoint/2010/main" val="218134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032B1-031C-292F-828B-9BD19D9AB390}"/>
              </a:ext>
            </a:extLst>
          </p:cNvPr>
          <p:cNvSpPr>
            <a:spLocks noGrp="1"/>
          </p:cNvSpPr>
          <p:nvPr>
            <p:ph type="title"/>
          </p:nvPr>
        </p:nvSpPr>
        <p:spPr/>
        <p:txBody>
          <a:bodyPr/>
          <a:lstStyle/>
          <a:p>
            <a:r>
              <a:rPr lang="en-US" b="1" dirty="0"/>
              <a:t>How do we bridge the gap?</a:t>
            </a:r>
          </a:p>
        </p:txBody>
      </p:sp>
      <p:sp>
        <p:nvSpPr>
          <p:cNvPr id="3" name="Content Placeholder 2">
            <a:extLst>
              <a:ext uri="{FF2B5EF4-FFF2-40B4-BE49-F238E27FC236}">
                <a16:creationId xmlns:a16="http://schemas.microsoft.com/office/drawing/2014/main" id="{03184B00-6920-F5B2-BFAE-25CE2B85E0ED}"/>
              </a:ext>
            </a:extLst>
          </p:cNvPr>
          <p:cNvSpPr>
            <a:spLocks noGrp="1"/>
          </p:cNvSpPr>
          <p:nvPr>
            <p:ph idx="1"/>
          </p:nvPr>
        </p:nvSpPr>
        <p:spPr/>
        <p:txBody>
          <a:bodyPr>
            <a:normAutofit fontScale="92500" lnSpcReduction="20000"/>
          </a:bodyPr>
          <a:lstStyle/>
          <a:p>
            <a:pPr>
              <a:lnSpc>
                <a:spcPct val="110000"/>
              </a:lnSpc>
            </a:pPr>
            <a:r>
              <a:rPr lang="en-US" dirty="0"/>
              <a:t>For beginning students, the cognitive load of learning both theory (How to think like a programmer) and syntax is often too high (think of trying to learn Japanese and having to craft novels why still struggling with reading, writing, and grammar)</a:t>
            </a:r>
          </a:p>
          <a:p>
            <a:pPr>
              <a:lnSpc>
                <a:spcPct val="110000"/>
              </a:lnSpc>
            </a:pPr>
            <a:r>
              <a:rPr lang="en-US" dirty="0">
                <a:effectLst/>
              </a:rPr>
              <a:t>This becomes exponentially harder when talking</a:t>
            </a:r>
            <a:r>
              <a:rPr lang="en-US" dirty="0"/>
              <a:t> about AI theory and AI practice (ml-ops, fine tuning, selecting the right model, edge AI, etc.)</a:t>
            </a:r>
          </a:p>
          <a:p>
            <a:pPr>
              <a:lnSpc>
                <a:spcPct val="110000"/>
              </a:lnSpc>
            </a:pPr>
            <a:r>
              <a:rPr lang="en-US" dirty="0">
                <a:effectLst/>
              </a:rPr>
              <a:t>One professor and a team o</a:t>
            </a:r>
            <a:r>
              <a:rPr lang="en-US" dirty="0"/>
              <a:t>f TAs cannot meet the individual needs of every student and instead we focus on the many</a:t>
            </a:r>
          </a:p>
          <a:p>
            <a:pPr>
              <a:lnSpc>
                <a:spcPct val="110000"/>
              </a:lnSpc>
            </a:pPr>
            <a:r>
              <a:rPr lang="en-US" dirty="0"/>
              <a:t>We need a Pedagogical Shift</a:t>
            </a:r>
            <a:r>
              <a:rPr lang="en-US" b="1" dirty="0"/>
              <a:t>,</a:t>
            </a:r>
            <a:r>
              <a:rPr lang="en-US" dirty="0">
                <a:effectLst/>
              </a:rPr>
              <a:t> and I believe </a:t>
            </a:r>
            <a:r>
              <a:rPr lang="en-US" dirty="0"/>
              <a:t>that shift is possible with what I call </a:t>
            </a:r>
            <a:r>
              <a:rPr lang="en-US" b="1" dirty="0"/>
              <a:t>Personal AI</a:t>
            </a:r>
            <a:endParaRPr lang="en-US" dirty="0"/>
          </a:p>
        </p:txBody>
      </p:sp>
    </p:spTree>
    <p:extLst>
      <p:ext uri="{BB962C8B-B14F-4D97-AF65-F5344CB8AC3E}">
        <p14:creationId xmlns:p14="http://schemas.microsoft.com/office/powerpoint/2010/main" val="3611511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937BA-25C6-6D46-6AFF-01420B82A306}"/>
              </a:ext>
            </a:extLst>
          </p:cNvPr>
          <p:cNvSpPr>
            <a:spLocks noGrp="1"/>
          </p:cNvSpPr>
          <p:nvPr>
            <p:ph type="title"/>
          </p:nvPr>
        </p:nvSpPr>
        <p:spPr/>
        <p:txBody>
          <a:bodyPr/>
          <a:lstStyle/>
          <a:p>
            <a:r>
              <a:rPr lang="en-US" b="1" dirty="0"/>
              <a:t>Personal AI </a:t>
            </a:r>
          </a:p>
        </p:txBody>
      </p:sp>
      <p:sp>
        <p:nvSpPr>
          <p:cNvPr id="3" name="Content Placeholder 2">
            <a:extLst>
              <a:ext uri="{FF2B5EF4-FFF2-40B4-BE49-F238E27FC236}">
                <a16:creationId xmlns:a16="http://schemas.microsoft.com/office/drawing/2014/main" id="{DF4DC3BA-390D-6FD8-2917-406F146BC636}"/>
              </a:ext>
            </a:extLst>
          </p:cNvPr>
          <p:cNvSpPr>
            <a:spLocks noGrp="1"/>
          </p:cNvSpPr>
          <p:nvPr>
            <p:ph idx="1"/>
          </p:nvPr>
        </p:nvSpPr>
        <p:spPr/>
        <p:txBody>
          <a:bodyPr>
            <a:normAutofit/>
          </a:bodyPr>
          <a:lstStyle/>
          <a:p>
            <a:r>
              <a:rPr lang="en-US" dirty="0"/>
              <a:t>In first-year programming classes a good deal of time is spent focusing on syntax and debugging. Students often don't get the critical "How to think like an engineer"</a:t>
            </a:r>
          </a:p>
          <a:p>
            <a:r>
              <a:rPr lang="en-US" dirty="0"/>
              <a:t>In graduate-level AI and machine learning classes students often get the theory and terminology, but not the "syntax" for production, i.e., how to deploy at scale, how to A/B test, when is 60% better than 99%</a:t>
            </a:r>
          </a:p>
          <a:p>
            <a:r>
              <a:rPr lang="en-US" b="1" dirty="0"/>
              <a:t>Personal AI</a:t>
            </a:r>
            <a:r>
              <a:rPr lang="en-US" dirty="0"/>
              <a:t> would alleviate faculty focusing extensively on syntax in early classes or how to operationalize in graduate courses</a:t>
            </a:r>
            <a:endParaRPr lang="en-US" b="1" dirty="0"/>
          </a:p>
        </p:txBody>
      </p:sp>
    </p:spTree>
    <p:extLst>
      <p:ext uri="{BB962C8B-B14F-4D97-AF65-F5344CB8AC3E}">
        <p14:creationId xmlns:p14="http://schemas.microsoft.com/office/powerpoint/2010/main" val="3881705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C8A87-FE4B-913D-DDF5-26686813C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A1323-EB3B-AFA1-CFDB-96A7740CBF32}"/>
              </a:ext>
            </a:extLst>
          </p:cNvPr>
          <p:cNvSpPr>
            <a:spLocks noGrp="1"/>
          </p:cNvSpPr>
          <p:nvPr>
            <p:ph type="title"/>
          </p:nvPr>
        </p:nvSpPr>
        <p:spPr/>
        <p:txBody>
          <a:bodyPr/>
          <a:lstStyle/>
          <a:p>
            <a:r>
              <a:rPr lang="en-US" b="1" dirty="0"/>
              <a:t>Personal AI empowers </a:t>
            </a:r>
            <a:r>
              <a:rPr lang="en-US" b="1"/>
              <a:t>the student</a:t>
            </a:r>
            <a:endParaRPr lang="en-US" b="1" dirty="0"/>
          </a:p>
        </p:txBody>
      </p:sp>
      <p:sp>
        <p:nvSpPr>
          <p:cNvPr id="3" name="Content Placeholder 2">
            <a:extLst>
              <a:ext uri="{FF2B5EF4-FFF2-40B4-BE49-F238E27FC236}">
                <a16:creationId xmlns:a16="http://schemas.microsoft.com/office/drawing/2014/main" id="{2B0C6FD3-1F80-504A-0810-12E86DE606D6}"/>
              </a:ext>
            </a:extLst>
          </p:cNvPr>
          <p:cNvSpPr>
            <a:spLocks noGrp="1"/>
          </p:cNvSpPr>
          <p:nvPr>
            <p:ph idx="1"/>
          </p:nvPr>
        </p:nvSpPr>
        <p:spPr/>
        <p:txBody>
          <a:bodyPr>
            <a:normAutofit/>
          </a:bodyPr>
          <a:lstStyle/>
          <a:p>
            <a:r>
              <a:rPr lang="en-US" dirty="0"/>
              <a:t>Acts as a localized, highly individualized TA that understands a student's specific culture, learning style, knowledge level, and potential learning disabilities/struggles</a:t>
            </a:r>
          </a:p>
          <a:p>
            <a:r>
              <a:rPr lang="en-US" dirty="0"/>
              <a:t>The Personal AI handles the "how-to-build-it", the faculty focuses on the "how to think like an engineer", high-level theory, systems architecture, and other much needed topics like ethics</a:t>
            </a:r>
          </a:p>
          <a:p>
            <a:r>
              <a:rPr lang="en-US" dirty="0"/>
              <a:t>Students are trained to view AI as a collaborative tool for modern engineering and not a way to get out of their homework assignment</a:t>
            </a:r>
          </a:p>
        </p:txBody>
      </p:sp>
    </p:spTree>
    <p:extLst>
      <p:ext uri="{BB962C8B-B14F-4D97-AF65-F5344CB8AC3E}">
        <p14:creationId xmlns:p14="http://schemas.microsoft.com/office/powerpoint/2010/main" val="1112839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97517-82DD-013F-1243-E5892B0671E0}"/>
              </a:ext>
            </a:extLst>
          </p:cNvPr>
          <p:cNvSpPr>
            <a:spLocks noGrp="1"/>
          </p:cNvSpPr>
          <p:nvPr>
            <p:ph type="title"/>
          </p:nvPr>
        </p:nvSpPr>
        <p:spPr/>
        <p:txBody>
          <a:bodyPr/>
          <a:lstStyle/>
          <a:p>
            <a:r>
              <a:rPr lang="en-US" b="1" dirty="0"/>
              <a:t>Incorporating Personal AI in the classroom</a:t>
            </a:r>
          </a:p>
        </p:txBody>
      </p:sp>
      <p:sp>
        <p:nvSpPr>
          <p:cNvPr id="3" name="Content Placeholder 2">
            <a:extLst>
              <a:ext uri="{FF2B5EF4-FFF2-40B4-BE49-F238E27FC236}">
                <a16:creationId xmlns:a16="http://schemas.microsoft.com/office/drawing/2014/main" id="{DA2710ED-CA90-AD3F-2F00-2DAF75876E0D}"/>
              </a:ext>
            </a:extLst>
          </p:cNvPr>
          <p:cNvSpPr>
            <a:spLocks noGrp="1"/>
          </p:cNvSpPr>
          <p:nvPr>
            <p:ph sz="half" idx="1"/>
          </p:nvPr>
        </p:nvSpPr>
        <p:spPr/>
        <p:txBody>
          <a:bodyPr>
            <a:noAutofit/>
          </a:bodyPr>
          <a:lstStyle/>
          <a:p>
            <a:pPr marL="0" indent="0">
              <a:buNone/>
            </a:pPr>
            <a:r>
              <a:rPr lang="en-US" dirty="0"/>
              <a:t>Instead of banning AI and fighting a losing battle against LLM-generated code in upper level and graduate course, I propose that students treat their Personal AI as a combination "junior developer" and "CS Wikipedia" </a:t>
            </a:r>
          </a:p>
        </p:txBody>
      </p:sp>
      <p:sp>
        <p:nvSpPr>
          <p:cNvPr id="4" name="Content Placeholder 3">
            <a:extLst>
              <a:ext uri="{FF2B5EF4-FFF2-40B4-BE49-F238E27FC236}">
                <a16:creationId xmlns:a16="http://schemas.microsoft.com/office/drawing/2014/main" id="{E66ECE88-CB4E-3834-6023-290EA3E0FA6C}"/>
              </a:ext>
            </a:extLst>
          </p:cNvPr>
          <p:cNvSpPr>
            <a:spLocks noGrp="1"/>
          </p:cNvSpPr>
          <p:nvPr>
            <p:ph sz="half" idx="2"/>
          </p:nvPr>
        </p:nvSpPr>
        <p:spPr/>
        <p:txBody>
          <a:bodyPr>
            <a:noAutofit/>
          </a:bodyPr>
          <a:lstStyle/>
          <a:p>
            <a:pPr marL="0" indent="0">
              <a:lnSpc>
                <a:spcPct val="100000"/>
              </a:lnSpc>
              <a:buNone/>
            </a:pPr>
            <a:r>
              <a:rPr lang="en-US" sz="2000" b="1" dirty="0"/>
              <a:t>But why let students use AI to code?</a:t>
            </a:r>
          </a:p>
          <a:p>
            <a:pPr>
              <a:lnSpc>
                <a:spcPct val="100000"/>
              </a:lnSpc>
            </a:pPr>
            <a:r>
              <a:rPr lang="en-US" sz="2000" dirty="0"/>
              <a:t>Before modern IDEs everyone memorized all the methods/functions and their arguments. After autocompletion no one cared to remember</a:t>
            </a:r>
          </a:p>
          <a:p>
            <a:pPr>
              <a:lnSpc>
                <a:spcPct val="100000"/>
              </a:lnSpc>
            </a:pPr>
            <a:r>
              <a:rPr lang="en-US" sz="2000" dirty="0"/>
              <a:t>Now we have line and multi-line completion and built-in and agentic coding tools</a:t>
            </a:r>
          </a:p>
          <a:p>
            <a:pPr>
              <a:lnSpc>
                <a:spcPct val="100000"/>
              </a:lnSpc>
            </a:pPr>
            <a:r>
              <a:rPr lang="en-US" sz="2000" dirty="0"/>
              <a:t>Just like version control and software engineering methodologies were required for employment before, now you need to know how to code with AI and are invited to bring your AI with you</a:t>
            </a:r>
          </a:p>
          <a:p>
            <a:pPr>
              <a:lnSpc>
                <a:spcPct val="100000"/>
              </a:lnSpc>
            </a:pPr>
            <a:endParaRPr lang="en-US" sz="2000" dirty="0"/>
          </a:p>
        </p:txBody>
      </p:sp>
    </p:spTree>
    <p:extLst>
      <p:ext uri="{BB962C8B-B14F-4D97-AF65-F5344CB8AC3E}">
        <p14:creationId xmlns:p14="http://schemas.microsoft.com/office/powerpoint/2010/main" val="97231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CBB81-71CF-D55B-4F91-4C8509AFEB02}"/>
              </a:ext>
            </a:extLst>
          </p:cNvPr>
          <p:cNvSpPr>
            <a:spLocks noGrp="1"/>
          </p:cNvSpPr>
          <p:nvPr>
            <p:ph type="title"/>
          </p:nvPr>
        </p:nvSpPr>
        <p:spPr/>
        <p:txBody>
          <a:bodyPr/>
          <a:lstStyle/>
          <a:p>
            <a:r>
              <a:rPr lang="en-US" b="1" dirty="0"/>
              <a:t>How AI can be a partner in the learning process? </a:t>
            </a:r>
          </a:p>
        </p:txBody>
      </p:sp>
      <p:sp>
        <p:nvSpPr>
          <p:cNvPr id="3" name="Content Placeholder 2">
            <a:extLst>
              <a:ext uri="{FF2B5EF4-FFF2-40B4-BE49-F238E27FC236}">
                <a16:creationId xmlns:a16="http://schemas.microsoft.com/office/drawing/2014/main" id="{D453E234-81A8-0C20-57FE-EE4C4EED1B2C}"/>
              </a:ext>
            </a:extLst>
          </p:cNvPr>
          <p:cNvSpPr>
            <a:spLocks noGrp="1"/>
          </p:cNvSpPr>
          <p:nvPr>
            <p:ph idx="1"/>
          </p:nvPr>
        </p:nvSpPr>
        <p:spPr/>
        <p:txBody>
          <a:bodyPr>
            <a:normAutofit fontScale="92500" lnSpcReduction="20000"/>
          </a:bodyPr>
          <a:lstStyle/>
          <a:p>
            <a:pPr>
              <a:lnSpc>
                <a:spcPct val="110000"/>
              </a:lnSpc>
            </a:pPr>
            <a:r>
              <a:rPr lang="en-US" dirty="0"/>
              <a:t>How do we ensure that students are learning system level thinking skills that incorporate theory/thinking while also building non-trivial systems allowing them to explore how that thinking is operationalized?</a:t>
            </a:r>
          </a:p>
          <a:p>
            <a:pPr marL="0" indent="0">
              <a:lnSpc>
                <a:spcPct val="110000"/>
              </a:lnSpc>
              <a:buNone/>
            </a:pPr>
            <a:r>
              <a:rPr lang="en-US" b="1" dirty="0"/>
              <a:t>Agentic Agile</a:t>
            </a:r>
          </a:p>
          <a:p>
            <a:pPr>
              <a:lnSpc>
                <a:spcPct val="110000"/>
              </a:lnSpc>
            </a:pPr>
            <a:r>
              <a:rPr lang="en-US" dirty="0"/>
              <a:t>Treating the AI as a junior programmer means we must provide detailed plans for what they do, not letting them decide on their own, but instead giving them the solution they need to build</a:t>
            </a:r>
          </a:p>
          <a:p>
            <a:pPr>
              <a:lnSpc>
                <a:spcPct val="110000"/>
              </a:lnSpc>
            </a:pPr>
            <a:r>
              <a:rPr lang="en-US" dirty="0"/>
              <a:t>Before writing a line of code, the student must write the user stories, define the sprint architecture, and outline the exact logic flow for the AI agent</a:t>
            </a:r>
          </a:p>
        </p:txBody>
      </p:sp>
    </p:spTree>
    <p:extLst>
      <p:ext uri="{BB962C8B-B14F-4D97-AF65-F5344CB8AC3E}">
        <p14:creationId xmlns:p14="http://schemas.microsoft.com/office/powerpoint/2010/main" val="261206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Graphic 22" descr="Document with solid fill">
            <a:extLst>
              <a:ext uri="{FF2B5EF4-FFF2-40B4-BE49-F238E27FC236}">
                <a16:creationId xmlns:a16="http://schemas.microsoft.com/office/drawing/2014/main" id="{AD4B15B7-C3AC-8628-3BCD-01BA007EF4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16078" y="2264166"/>
            <a:ext cx="914400" cy="914400"/>
          </a:xfrm>
          <a:prstGeom prst="rect">
            <a:avLst/>
          </a:prstGeom>
        </p:spPr>
      </p:pic>
      <p:sp>
        <p:nvSpPr>
          <p:cNvPr id="2" name="Title 1">
            <a:extLst>
              <a:ext uri="{FF2B5EF4-FFF2-40B4-BE49-F238E27FC236}">
                <a16:creationId xmlns:a16="http://schemas.microsoft.com/office/drawing/2014/main" id="{D89D2E71-E3B4-8C9E-8C67-0DDC9D6963F2}"/>
              </a:ext>
            </a:extLst>
          </p:cNvPr>
          <p:cNvSpPr>
            <a:spLocks noGrp="1"/>
          </p:cNvSpPr>
          <p:nvPr>
            <p:ph type="title"/>
          </p:nvPr>
        </p:nvSpPr>
        <p:spPr/>
        <p:txBody>
          <a:bodyPr/>
          <a:lstStyle/>
          <a:p>
            <a:r>
              <a:rPr lang="en-US" b="1" dirty="0"/>
              <a:t>Agentic Agile</a:t>
            </a:r>
          </a:p>
        </p:txBody>
      </p:sp>
      <p:pic>
        <p:nvPicPr>
          <p:cNvPr id="5" name="Graphic 4" descr="Male profile with solid fill">
            <a:extLst>
              <a:ext uri="{FF2B5EF4-FFF2-40B4-BE49-F238E27FC236}">
                <a16:creationId xmlns:a16="http://schemas.microsoft.com/office/drawing/2014/main" id="{81274440-BE9C-164C-70AE-0C4C249A18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0416" y="2234973"/>
            <a:ext cx="1194027" cy="1194027"/>
          </a:xfrm>
          <a:prstGeom prst="rect">
            <a:avLst/>
          </a:prstGeom>
        </p:spPr>
      </p:pic>
      <p:grpSp>
        <p:nvGrpSpPr>
          <p:cNvPr id="10" name="Group 9">
            <a:extLst>
              <a:ext uri="{FF2B5EF4-FFF2-40B4-BE49-F238E27FC236}">
                <a16:creationId xmlns:a16="http://schemas.microsoft.com/office/drawing/2014/main" id="{20C7015C-9D20-E308-6D0F-096F9FD3F130}"/>
              </a:ext>
            </a:extLst>
          </p:cNvPr>
          <p:cNvGrpSpPr/>
          <p:nvPr/>
        </p:nvGrpSpPr>
        <p:grpSpPr>
          <a:xfrm>
            <a:off x="4633913" y="2536626"/>
            <a:ext cx="1179895" cy="1274990"/>
            <a:chOff x="2588079" y="1545772"/>
            <a:chExt cx="1526720" cy="1771648"/>
          </a:xfrm>
        </p:grpSpPr>
        <p:pic>
          <p:nvPicPr>
            <p:cNvPr id="7" name="Picture 6">
              <a:extLst>
                <a:ext uri="{FF2B5EF4-FFF2-40B4-BE49-F238E27FC236}">
                  <a16:creationId xmlns:a16="http://schemas.microsoft.com/office/drawing/2014/main" id="{848CAEA0-5933-F52E-8C81-F64009629A5C}"/>
                </a:ext>
              </a:extLst>
            </p:cNvPr>
            <p:cNvPicPr>
              <a:picLocks noChangeAspect="1"/>
            </p:cNvPicPr>
            <p:nvPr/>
          </p:nvPicPr>
          <p:blipFill>
            <a:blip r:embed="rId4"/>
            <a:stretch>
              <a:fillRect/>
            </a:stretch>
          </p:blipFill>
          <p:spPr>
            <a:xfrm>
              <a:off x="2933700" y="1545772"/>
              <a:ext cx="1181099" cy="1181099"/>
            </a:xfrm>
            <a:prstGeom prst="rect">
              <a:avLst/>
            </a:prstGeom>
          </p:spPr>
        </p:pic>
        <p:pic>
          <p:nvPicPr>
            <p:cNvPr id="8" name="Picture 7" descr="Getting started with IntelliJ IDEA - Helen Scott">
              <a:extLst>
                <a:ext uri="{FF2B5EF4-FFF2-40B4-BE49-F238E27FC236}">
                  <a16:creationId xmlns:a16="http://schemas.microsoft.com/office/drawing/2014/main" id="{7FCD8592-8FA4-8BB5-80D5-2D9EE6A4FB87}"/>
                </a:ext>
              </a:extLst>
            </p:cNvPr>
            <p:cNvPicPr>
              <a:picLocks noChangeAspect="1"/>
            </p:cNvPicPr>
            <p:nvPr/>
          </p:nvPicPr>
          <p:blipFill>
            <a:blip r:embed="rId5"/>
            <a:stretch>
              <a:fillRect/>
            </a:stretch>
          </p:blipFill>
          <p:spPr>
            <a:xfrm>
              <a:off x="2588079" y="2136322"/>
              <a:ext cx="1181098" cy="1181098"/>
            </a:xfrm>
            <a:prstGeom prst="rect">
              <a:avLst/>
            </a:prstGeom>
          </p:spPr>
        </p:pic>
      </p:grpSp>
      <p:sp>
        <p:nvSpPr>
          <p:cNvPr id="9" name="Right Arrow 8">
            <a:extLst>
              <a:ext uri="{FF2B5EF4-FFF2-40B4-BE49-F238E27FC236}">
                <a16:creationId xmlns:a16="http://schemas.microsoft.com/office/drawing/2014/main" id="{3BCAE33D-20B8-5859-04E9-CC5051D2D838}"/>
              </a:ext>
            </a:extLst>
          </p:cNvPr>
          <p:cNvSpPr/>
          <p:nvPr/>
        </p:nvSpPr>
        <p:spPr>
          <a:xfrm>
            <a:off x="3545342" y="2587059"/>
            <a:ext cx="1088571" cy="48985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7E2817C-27D7-2CA0-5BF1-8F931A2318FC}"/>
              </a:ext>
            </a:extLst>
          </p:cNvPr>
          <p:cNvSpPr txBox="1"/>
          <p:nvPr/>
        </p:nvSpPr>
        <p:spPr>
          <a:xfrm>
            <a:off x="2752046" y="4713518"/>
            <a:ext cx="2193471" cy="923330"/>
          </a:xfrm>
          <a:prstGeom prst="rect">
            <a:avLst/>
          </a:prstGeom>
          <a:noFill/>
        </p:spPr>
        <p:txBody>
          <a:bodyPr wrap="square" rtlCol="0">
            <a:spAutoFit/>
          </a:bodyPr>
          <a:lstStyle/>
          <a:p>
            <a:r>
              <a:rPr lang="en-US" b="1" dirty="0">
                <a:solidFill>
                  <a:srgbClr val="FF0000"/>
                </a:solidFill>
              </a:rPr>
              <a:t>Compiler Error</a:t>
            </a:r>
          </a:p>
          <a:p>
            <a:r>
              <a:rPr lang="en-US" dirty="0"/>
              <a:t>missing ; on line 20</a:t>
            </a:r>
          </a:p>
          <a:p>
            <a:endParaRPr lang="en-US" dirty="0"/>
          </a:p>
        </p:txBody>
      </p:sp>
      <p:sp>
        <p:nvSpPr>
          <p:cNvPr id="12" name="Right Arrow 11">
            <a:extLst>
              <a:ext uri="{FF2B5EF4-FFF2-40B4-BE49-F238E27FC236}">
                <a16:creationId xmlns:a16="http://schemas.microsoft.com/office/drawing/2014/main" id="{8C5D9699-DB11-B14A-A775-65F4CA43B27B}"/>
              </a:ext>
            </a:extLst>
          </p:cNvPr>
          <p:cNvSpPr/>
          <p:nvPr/>
        </p:nvSpPr>
        <p:spPr>
          <a:xfrm rot="11964081">
            <a:off x="2122526" y="4056767"/>
            <a:ext cx="1088571" cy="48985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Frustrated old businessman">
            <a:extLst>
              <a:ext uri="{FF2B5EF4-FFF2-40B4-BE49-F238E27FC236}">
                <a16:creationId xmlns:a16="http://schemas.microsoft.com/office/drawing/2014/main" id="{674F9103-24A4-2522-B2A8-1BC9517DE968}"/>
              </a:ext>
            </a:extLst>
          </p:cNvPr>
          <p:cNvPicPr>
            <a:picLocks noChangeAspect="1"/>
          </p:cNvPicPr>
          <p:nvPr/>
        </p:nvPicPr>
        <p:blipFill>
          <a:blip r:embed="rId6"/>
          <a:stretch/>
        </p:blipFill>
        <p:spPr>
          <a:xfrm>
            <a:off x="359227" y="3506563"/>
            <a:ext cx="1630818" cy="1087212"/>
          </a:xfrm>
          <a:prstGeom prst="rect">
            <a:avLst/>
          </a:prstGeom>
        </p:spPr>
      </p:pic>
      <p:sp>
        <p:nvSpPr>
          <p:cNvPr id="15" name="Right Arrow 14">
            <a:extLst>
              <a:ext uri="{FF2B5EF4-FFF2-40B4-BE49-F238E27FC236}">
                <a16:creationId xmlns:a16="http://schemas.microsoft.com/office/drawing/2014/main" id="{0622A526-5467-FC6F-7503-B77FE1CE98EF}"/>
              </a:ext>
            </a:extLst>
          </p:cNvPr>
          <p:cNvSpPr/>
          <p:nvPr/>
        </p:nvSpPr>
        <p:spPr>
          <a:xfrm rot="8822763">
            <a:off x="4069215" y="4160556"/>
            <a:ext cx="1088571" cy="48985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A0699BE-33D5-599C-69A2-80ADE233C49E}"/>
              </a:ext>
            </a:extLst>
          </p:cNvPr>
          <p:cNvSpPr txBox="1"/>
          <p:nvPr/>
        </p:nvSpPr>
        <p:spPr>
          <a:xfrm>
            <a:off x="643958" y="4784483"/>
            <a:ext cx="2193471" cy="1477328"/>
          </a:xfrm>
          <a:prstGeom prst="rect">
            <a:avLst/>
          </a:prstGeom>
          <a:noFill/>
        </p:spPr>
        <p:txBody>
          <a:bodyPr wrap="square" rtlCol="0">
            <a:spAutoFit/>
          </a:bodyPr>
          <a:lstStyle/>
          <a:p>
            <a:r>
              <a:rPr lang="en-US" b="1" dirty="0"/>
              <a:t>Increased Frustration: </a:t>
            </a:r>
            <a:r>
              <a:rPr lang="en-US" dirty="0"/>
              <a:t>No longer thinking at a high-level focused on the syntax</a:t>
            </a:r>
          </a:p>
        </p:txBody>
      </p:sp>
      <p:sp>
        <p:nvSpPr>
          <p:cNvPr id="17" name="TextBox 16">
            <a:extLst>
              <a:ext uri="{FF2B5EF4-FFF2-40B4-BE49-F238E27FC236}">
                <a16:creationId xmlns:a16="http://schemas.microsoft.com/office/drawing/2014/main" id="{9C9F8222-D756-C369-97D5-499103D8A951}"/>
              </a:ext>
            </a:extLst>
          </p:cNvPr>
          <p:cNvSpPr txBox="1"/>
          <p:nvPr/>
        </p:nvSpPr>
        <p:spPr>
          <a:xfrm>
            <a:off x="823233" y="1759722"/>
            <a:ext cx="1473930" cy="369332"/>
          </a:xfrm>
          <a:prstGeom prst="rect">
            <a:avLst/>
          </a:prstGeom>
          <a:noFill/>
        </p:spPr>
        <p:txBody>
          <a:bodyPr wrap="none" rtlCol="0">
            <a:spAutoFit/>
          </a:bodyPr>
          <a:lstStyle/>
          <a:p>
            <a:r>
              <a:rPr lang="en-US" b="1" dirty="0"/>
              <a:t>The Old Way</a:t>
            </a:r>
          </a:p>
        </p:txBody>
      </p:sp>
      <p:sp>
        <p:nvSpPr>
          <p:cNvPr id="18" name="TextBox 17">
            <a:extLst>
              <a:ext uri="{FF2B5EF4-FFF2-40B4-BE49-F238E27FC236}">
                <a16:creationId xmlns:a16="http://schemas.microsoft.com/office/drawing/2014/main" id="{58D350D2-97FA-7FE7-6704-D572EECD081F}"/>
              </a:ext>
            </a:extLst>
          </p:cNvPr>
          <p:cNvSpPr txBox="1"/>
          <p:nvPr/>
        </p:nvSpPr>
        <p:spPr>
          <a:xfrm>
            <a:off x="6385833" y="1759722"/>
            <a:ext cx="2466253" cy="369332"/>
          </a:xfrm>
          <a:prstGeom prst="rect">
            <a:avLst/>
          </a:prstGeom>
          <a:noFill/>
        </p:spPr>
        <p:txBody>
          <a:bodyPr wrap="none" rtlCol="0">
            <a:spAutoFit/>
          </a:bodyPr>
          <a:lstStyle/>
          <a:p>
            <a:r>
              <a:rPr lang="en-US" b="1" dirty="0"/>
              <a:t>The Agentic Agile Way</a:t>
            </a:r>
          </a:p>
        </p:txBody>
      </p:sp>
      <p:pic>
        <p:nvPicPr>
          <p:cNvPr id="19" name="Graphic 18" descr="Male profile with solid fill">
            <a:extLst>
              <a:ext uri="{FF2B5EF4-FFF2-40B4-BE49-F238E27FC236}">
                <a16:creationId xmlns:a16="http://schemas.microsoft.com/office/drawing/2014/main" id="{5D3749E2-D389-3D4B-8BC5-7B49C9FC06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4932" y="2246567"/>
            <a:ext cx="1194027" cy="1194027"/>
          </a:xfrm>
          <a:prstGeom prst="rect">
            <a:avLst/>
          </a:prstGeom>
        </p:spPr>
      </p:pic>
      <p:sp>
        <p:nvSpPr>
          <p:cNvPr id="20" name="Right Arrow 19">
            <a:extLst>
              <a:ext uri="{FF2B5EF4-FFF2-40B4-BE49-F238E27FC236}">
                <a16:creationId xmlns:a16="http://schemas.microsoft.com/office/drawing/2014/main" id="{2F7E4300-803A-B9FA-307E-D7B4947B770F}"/>
              </a:ext>
            </a:extLst>
          </p:cNvPr>
          <p:cNvSpPr/>
          <p:nvPr/>
        </p:nvSpPr>
        <p:spPr>
          <a:xfrm>
            <a:off x="7831528" y="2446938"/>
            <a:ext cx="841809" cy="48985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EF95849-5455-9D0C-1934-51AF32FA93EF}"/>
              </a:ext>
            </a:extLst>
          </p:cNvPr>
          <p:cNvSpPr txBox="1"/>
          <p:nvPr/>
        </p:nvSpPr>
        <p:spPr>
          <a:xfrm>
            <a:off x="9622473" y="2213483"/>
            <a:ext cx="1647505" cy="923330"/>
          </a:xfrm>
          <a:prstGeom prst="rect">
            <a:avLst/>
          </a:prstGeom>
          <a:noFill/>
        </p:spPr>
        <p:txBody>
          <a:bodyPr wrap="square">
            <a:spAutoFit/>
          </a:bodyPr>
          <a:lstStyle/>
          <a:p>
            <a:pPr algn="ctr"/>
            <a:r>
              <a:rPr lang="en-US" b="1" dirty="0"/>
              <a:t>Epics / User Stories / Spikes</a:t>
            </a:r>
            <a:endParaRPr lang="en-US" dirty="0"/>
          </a:p>
        </p:txBody>
      </p:sp>
      <p:pic>
        <p:nvPicPr>
          <p:cNvPr id="34" name="Graphic 33" descr="Robot with solid fill">
            <a:extLst>
              <a:ext uri="{FF2B5EF4-FFF2-40B4-BE49-F238E27FC236}">
                <a16:creationId xmlns:a16="http://schemas.microsoft.com/office/drawing/2014/main" id="{C4FC5976-CCA7-415E-8D71-B47D2D37334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65692" y="3873567"/>
            <a:ext cx="1304286" cy="1304286"/>
          </a:xfrm>
          <a:prstGeom prst="rect">
            <a:avLst/>
          </a:prstGeom>
        </p:spPr>
      </p:pic>
      <p:pic>
        <p:nvPicPr>
          <p:cNvPr id="38" name="Graphic 37" descr="Blueprint with solid fill">
            <a:extLst>
              <a:ext uri="{FF2B5EF4-FFF2-40B4-BE49-F238E27FC236}">
                <a16:creationId xmlns:a16="http://schemas.microsoft.com/office/drawing/2014/main" id="{81328827-1C32-79CC-E10A-C7F8874AAE5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57802" y="4919730"/>
            <a:ext cx="914400" cy="914400"/>
          </a:xfrm>
          <a:prstGeom prst="rect">
            <a:avLst/>
          </a:prstGeom>
        </p:spPr>
      </p:pic>
      <p:sp>
        <p:nvSpPr>
          <p:cNvPr id="39" name="TextBox 38">
            <a:extLst>
              <a:ext uri="{FF2B5EF4-FFF2-40B4-BE49-F238E27FC236}">
                <a16:creationId xmlns:a16="http://schemas.microsoft.com/office/drawing/2014/main" id="{8801707D-0527-432F-1C3A-50D3948E732C}"/>
              </a:ext>
            </a:extLst>
          </p:cNvPr>
          <p:cNvSpPr txBox="1"/>
          <p:nvPr/>
        </p:nvSpPr>
        <p:spPr>
          <a:xfrm>
            <a:off x="7446564" y="5834130"/>
            <a:ext cx="1936875" cy="646331"/>
          </a:xfrm>
          <a:prstGeom prst="rect">
            <a:avLst/>
          </a:prstGeom>
          <a:noFill/>
        </p:spPr>
        <p:txBody>
          <a:bodyPr wrap="square">
            <a:spAutoFit/>
          </a:bodyPr>
          <a:lstStyle/>
          <a:p>
            <a:pPr algn="ctr"/>
            <a:r>
              <a:rPr lang="en-US" b="1" dirty="0"/>
              <a:t>Implementation Outline</a:t>
            </a:r>
            <a:endParaRPr lang="en-US" dirty="0"/>
          </a:p>
        </p:txBody>
      </p:sp>
      <p:grpSp>
        <p:nvGrpSpPr>
          <p:cNvPr id="50" name="Group 49">
            <a:extLst>
              <a:ext uri="{FF2B5EF4-FFF2-40B4-BE49-F238E27FC236}">
                <a16:creationId xmlns:a16="http://schemas.microsoft.com/office/drawing/2014/main" id="{4FD00188-B0C7-FEB3-FCB9-0BCF5742CB34}"/>
              </a:ext>
            </a:extLst>
          </p:cNvPr>
          <p:cNvGrpSpPr/>
          <p:nvPr/>
        </p:nvGrpSpPr>
        <p:grpSpPr>
          <a:xfrm>
            <a:off x="7153977" y="3281466"/>
            <a:ext cx="489857" cy="1936875"/>
            <a:chOff x="7153977" y="3281466"/>
            <a:chExt cx="489857" cy="1936875"/>
          </a:xfrm>
        </p:grpSpPr>
        <p:sp>
          <p:nvSpPr>
            <p:cNvPr id="40" name="Right Arrow 39">
              <a:extLst>
                <a:ext uri="{FF2B5EF4-FFF2-40B4-BE49-F238E27FC236}">
                  <a16:creationId xmlns:a16="http://schemas.microsoft.com/office/drawing/2014/main" id="{DFBD244C-58B2-CE41-64EE-2C4076AC08E5}"/>
                </a:ext>
              </a:extLst>
            </p:cNvPr>
            <p:cNvSpPr/>
            <p:nvPr/>
          </p:nvSpPr>
          <p:spPr>
            <a:xfrm rot="14125956">
              <a:off x="6619694" y="3967301"/>
              <a:ext cx="1558423" cy="48985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A7DADC3-0A04-CDC9-83D3-BA497DA973A8}"/>
                </a:ext>
              </a:extLst>
            </p:cNvPr>
            <p:cNvSpPr txBox="1"/>
            <p:nvPr/>
          </p:nvSpPr>
          <p:spPr>
            <a:xfrm rot="3340484">
              <a:off x="6450254" y="4080627"/>
              <a:ext cx="1936875" cy="338554"/>
            </a:xfrm>
            <a:prstGeom prst="rect">
              <a:avLst/>
            </a:prstGeom>
            <a:noFill/>
          </p:spPr>
          <p:txBody>
            <a:bodyPr wrap="square">
              <a:spAutoFit/>
            </a:bodyPr>
            <a:lstStyle/>
            <a:p>
              <a:pPr algn="ctr"/>
              <a:r>
                <a:rPr lang="en-US" sz="1600" b="1" dirty="0">
                  <a:solidFill>
                    <a:schemeClr val="bg1"/>
                  </a:solidFill>
                </a:rPr>
                <a:t>Review / Learn</a:t>
              </a:r>
              <a:endParaRPr lang="en-US" sz="1600" dirty="0">
                <a:solidFill>
                  <a:schemeClr val="bg1"/>
                </a:solidFill>
              </a:endParaRPr>
            </a:p>
          </p:txBody>
        </p:sp>
      </p:grpSp>
      <p:grpSp>
        <p:nvGrpSpPr>
          <p:cNvPr id="48" name="Group 47">
            <a:extLst>
              <a:ext uri="{FF2B5EF4-FFF2-40B4-BE49-F238E27FC236}">
                <a16:creationId xmlns:a16="http://schemas.microsoft.com/office/drawing/2014/main" id="{BE958088-A827-282A-4080-46367A8560CF}"/>
              </a:ext>
            </a:extLst>
          </p:cNvPr>
          <p:cNvGrpSpPr/>
          <p:nvPr/>
        </p:nvGrpSpPr>
        <p:grpSpPr>
          <a:xfrm>
            <a:off x="9732223" y="3076916"/>
            <a:ext cx="489857" cy="1088571"/>
            <a:chOff x="9913045" y="3075312"/>
            <a:chExt cx="489857" cy="1088571"/>
          </a:xfrm>
        </p:grpSpPr>
        <p:sp>
          <p:nvSpPr>
            <p:cNvPr id="35" name="Right Arrow 34">
              <a:extLst>
                <a:ext uri="{FF2B5EF4-FFF2-40B4-BE49-F238E27FC236}">
                  <a16:creationId xmlns:a16="http://schemas.microsoft.com/office/drawing/2014/main" id="{82EFC4DD-0EDD-2F11-895E-800E477237C3}"/>
                </a:ext>
              </a:extLst>
            </p:cNvPr>
            <p:cNvSpPr/>
            <p:nvPr/>
          </p:nvSpPr>
          <p:spPr>
            <a:xfrm rot="2768499">
              <a:off x="9613688" y="3374669"/>
              <a:ext cx="1088571" cy="48985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593F84D-4DBC-80B7-E382-7F7B550A38DF}"/>
                </a:ext>
              </a:extLst>
            </p:cNvPr>
            <p:cNvSpPr txBox="1"/>
            <p:nvPr/>
          </p:nvSpPr>
          <p:spPr>
            <a:xfrm rot="2837824">
              <a:off x="9693053" y="3419697"/>
              <a:ext cx="849532" cy="338554"/>
            </a:xfrm>
            <a:prstGeom prst="rect">
              <a:avLst/>
            </a:prstGeom>
            <a:noFill/>
          </p:spPr>
          <p:txBody>
            <a:bodyPr wrap="square">
              <a:spAutoFit/>
            </a:bodyPr>
            <a:lstStyle/>
            <a:p>
              <a:r>
                <a:rPr lang="en-US" sz="1600" b="1" dirty="0">
                  <a:solidFill>
                    <a:schemeClr val="bg1"/>
                  </a:solidFill>
                </a:rPr>
                <a:t>feeds</a:t>
              </a:r>
              <a:endParaRPr lang="en-US" sz="1600" dirty="0">
                <a:solidFill>
                  <a:schemeClr val="bg1"/>
                </a:solidFill>
              </a:endParaRPr>
            </a:p>
          </p:txBody>
        </p:sp>
      </p:grpSp>
      <p:sp>
        <p:nvSpPr>
          <p:cNvPr id="46" name="TextBox 45">
            <a:extLst>
              <a:ext uri="{FF2B5EF4-FFF2-40B4-BE49-F238E27FC236}">
                <a16:creationId xmlns:a16="http://schemas.microsoft.com/office/drawing/2014/main" id="{85C7C314-DACC-5A33-F127-073BB0FDD85C}"/>
              </a:ext>
            </a:extLst>
          </p:cNvPr>
          <p:cNvSpPr txBox="1"/>
          <p:nvPr/>
        </p:nvSpPr>
        <p:spPr>
          <a:xfrm>
            <a:off x="7783284" y="2522589"/>
            <a:ext cx="849532" cy="338554"/>
          </a:xfrm>
          <a:prstGeom prst="rect">
            <a:avLst/>
          </a:prstGeom>
          <a:noFill/>
        </p:spPr>
        <p:txBody>
          <a:bodyPr wrap="square">
            <a:spAutoFit/>
          </a:bodyPr>
          <a:lstStyle/>
          <a:p>
            <a:r>
              <a:rPr lang="en-US" sz="1600" b="1" dirty="0">
                <a:solidFill>
                  <a:schemeClr val="bg1"/>
                </a:solidFill>
              </a:rPr>
              <a:t>writes</a:t>
            </a:r>
            <a:endParaRPr lang="en-US" sz="1600" dirty="0">
              <a:solidFill>
                <a:schemeClr val="bg1"/>
              </a:solidFill>
            </a:endParaRPr>
          </a:p>
        </p:txBody>
      </p:sp>
      <p:grpSp>
        <p:nvGrpSpPr>
          <p:cNvPr id="49" name="Group 48">
            <a:extLst>
              <a:ext uri="{FF2B5EF4-FFF2-40B4-BE49-F238E27FC236}">
                <a16:creationId xmlns:a16="http://schemas.microsoft.com/office/drawing/2014/main" id="{385DB205-DCD2-1C4C-B322-F8908B824E7C}"/>
              </a:ext>
            </a:extLst>
          </p:cNvPr>
          <p:cNvGrpSpPr/>
          <p:nvPr/>
        </p:nvGrpSpPr>
        <p:grpSpPr>
          <a:xfrm>
            <a:off x="8890320" y="4852838"/>
            <a:ext cx="1311348" cy="489857"/>
            <a:chOff x="9203947" y="5068698"/>
            <a:chExt cx="1311348" cy="489857"/>
          </a:xfrm>
        </p:grpSpPr>
        <p:sp>
          <p:nvSpPr>
            <p:cNvPr id="36" name="Right Arrow 35">
              <a:extLst>
                <a:ext uri="{FF2B5EF4-FFF2-40B4-BE49-F238E27FC236}">
                  <a16:creationId xmlns:a16="http://schemas.microsoft.com/office/drawing/2014/main" id="{6F39CC41-9E15-DE1C-8E1A-975687F64DD2}"/>
                </a:ext>
              </a:extLst>
            </p:cNvPr>
            <p:cNvSpPr/>
            <p:nvPr/>
          </p:nvSpPr>
          <p:spPr>
            <a:xfrm rot="8916878">
              <a:off x="9203947" y="5068698"/>
              <a:ext cx="1283086" cy="489857"/>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3676DC3E-E77E-CAA5-08E7-6B4CCDCCC316}"/>
                </a:ext>
              </a:extLst>
            </p:cNvPr>
            <p:cNvSpPr txBox="1"/>
            <p:nvPr/>
          </p:nvSpPr>
          <p:spPr>
            <a:xfrm rot="19810668">
              <a:off x="9325868" y="5111361"/>
              <a:ext cx="1189427" cy="338554"/>
            </a:xfrm>
            <a:prstGeom prst="rect">
              <a:avLst/>
            </a:prstGeom>
            <a:noFill/>
          </p:spPr>
          <p:txBody>
            <a:bodyPr wrap="square">
              <a:spAutoFit/>
            </a:bodyPr>
            <a:lstStyle/>
            <a:p>
              <a:r>
                <a:rPr lang="en-US" sz="1600" b="1" dirty="0">
                  <a:solidFill>
                    <a:schemeClr val="bg1"/>
                  </a:solidFill>
                </a:rPr>
                <a:t>Generates</a:t>
              </a:r>
              <a:endParaRPr lang="en-US" sz="1600" dirty="0">
                <a:solidFill>
                  <a:schemeClr val="bg1"/>
                </a:solidFill>
              </a:endParaRPr>
            </a:p>
          </p:txBody>
        </p:sp>
      </p:grpSp>
      <p:sp>
        <p:nvSpPr>
          <p:cNvPr id="51" name="TextBox 50">
            <a:extLst>
              <a:ext uri="{FF2B5EF4-FFF2-40B4-BE49-F238E27FC236}">
                <a16:creationId xmlns:a16="http://schemas.microsoft.com/office/drawing/2014/main" id="{C5EB9D7F-A9D8-6D26-D4F5-0BF96D911855}"/>
              </a:ext>
            </a:extLst>
          </p:cNvPr>
          <p:cNvSpPr txBox="1"/>
          <p:nvPr/>
        </p:nvSpPr>
        <p:spPr>
          <a:xfrm>
            <a:off x="3608236" y="2662709"/>
            <a:ext cx="849532" cy="338554"/>
          </a:xfrm>
          <a:prstGeom prst="rect">
            <a:avLst/>
          </a:prstGeom>
          <a:noFill/>
        </p:spPr>
        <p:txBody>
          <a:bodyPr wrap="square">
            <a:spAutoFit/>
          </a:bodyPr>
          <a:lstStyle/>
          <a:p>
            <a:r>
              <a:rPr lang="en-US" sz="1600" b="1" dirty="0">
                <a:solidFill>
                  <a:schemeClr val="bg1"/>
                </a:solidFill>
              </a:rPr>
              <a:t>writes</a:t>
            </a:r>
            <a:endParaRPr lang="en-US" sz="1600" dirty="0">
              <a:solidFill>
                <a:schemeClr val="bg1"/>
              </a:solidFill>
            </a:endParaRPr>
          </a:p>
        </p:txBody>
      </p:sp>
      <p:sp>
        <p:nvSpPr>
          <p:cNvPr id="52" name="TextBox 51">
            <a:extLst>
              <a:ext uri="{FF2B5EF4-FFF2-40B4-BE49-F238E27FC236}">
                <a16:creationId xmlns:a16="http://schemas.microsoft.com/office/drawing/2014/main" id="{9918F696-5AB1-5280-C7D9-FF2A105EA44C}"/>
              </a:ext>
            </a:extLst>
          </p:cNvPr>
          <p:cNvSpPr txBox="1"/>
          <p:nvPr/>
        </p:nvSpPr>
        <p:spPr>
          <a:xfrm rot="19563615">
            <a:off x="4110414" y="4192157"/>
            <a:ext cx="1092099" cy="338554"/>
          </a:xfrm>
          <a:prstGeom prst="rect">
            <a:avLst/>
          </a:prstGeom>
          <a:noFill/>
        </p:spPr>
        <p:txBody>
          <a:bodyPr wrap="square">
            <a:spAutoFit/>
          </a:bodyPr>
          <a:lstStyle/>
          <a:p>
            <a:r>
              <a:rPr lang="en-US" sz="1600" b="1" dirty="0">
                <a:solidFill>
                  <a:schemeClr val="bg1"/>
                </a:solidFill>
              </a:rPr>
              <a:t>Compiles</a:t>
            </a:r>
            <a:endParaRPr lang="en-US" sz="1600" dirty="0">
              <a:solidFill>
                <a:schemeClr val="bg1"/>
              </a:solidFill>
            </a:endParaRPr>
          </a:p>
        </p:txBody>
      </p:sp>
      <p:sp>
        <p:nvSpPr>
          <p:cNvPr id="53" name="TextBox 52">
            <a:extLst>
              <a:ext uri="{FF2B5EF4-FFF2-40B4-BE49-F238E27FC236}">
                <a16:creationId xmlns:a16="http://schemas.microsoft.com/office/drawing/2014/main" id="{34B9534D-CEC1-56A8-5D4F-229817570129}"/>
              </a:ext>
            </a:extLst>
          </p:cNvPr>
          <p:cNvSpPr txBox="1"/>
          <p:nvPr/>
        </p:nvSpPr>
        <p:spPr>
          <a:xfrm rot="1177421">
            <a:off x="2270565" y="4191087"/>
            <a:ext cx="1092099" cy="338554"/>
          </a:xfrm>
          <a:prstGeom prst="rect">
            <a:avLst/>
          </a:prstGeom>
          <a:noFill/>
        </p:spPr>
        <p:txBody>
          <a:bodyPr wrap="square">
            <a:spAutoFit/>
          </a:bodyPr>
          <a:lstStyle/>
          <a:p>
            <a:r>
              <a:rPr lang="en-US" sz="1600" b="1" dirty="0">
                <a:solidFill>
                  <a:schemeClr val="bg1"/>
                </a:solidFill>
              </a:rPr>
              <a:t>Give up</a:t>
            </a:r>
            <a:endParaRPr lang="en-US" sz="1600" dirty="0">
              <a:solidFill>
                <a:schemeClr val="bg1"/>
              </a:solidFill>
            </a:endParaRPr>
          </a:p>
        </p:txBody>
      </p:sp>
    </p:spTree>
    <p:extLst>
      <p:ext uri="{BB962C8B-B14F-4D97-AF65-F5344CB8AC3E}">
        <p14:creationId xmlns:p14="http://schemas.microsoft.com/office/powerpoint/2010/main" val="3946281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F6A12-9289-7869-BD85-319422BDC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23FD2-C7E0-A7C9-E9A4-70D1A4DBC4B6}"/>
              </a:ext>
            </a:extLst>
          </p:cNvPr>
          <p:cNvSpPr>
            <a:spLocks noGrp="1"/>
          </p:cNvSpPr>
          <p:nvPr>
            <p:ph type="title"/>
          </p:nvPr>
        </p:nvSpPr>
        <p:spPr/>
        <p:txBody>
          <a:bodyPr/>
          <a:lstStyle/>
          <a:p>
            <a:r>
              <a:rPr lang="en-US" b="1" dirty="0"/>
              <a:t>Agentic Agile</a:t>
            </a:r>
          </a:p>
        </p:txBody>
      </p:sp>
      <p:sp>
        <p:nvSpPr>
          <p:cNvPr id="3" name="Content Placeholder 2">
            <a:extLst>
              <a:ext uri="{FF2B5EF4-FFF2-40B4-BE49-F238E27FC236}">
                <a16:creationId xmlns:a16="http://schemas.microsoft.com/office/drawing/2014/main" id="{2D7C9E66-44E9-3761-6EBC-CF88D64ADA78}"/>
              </a:ext>
            </a:extLst>
          </p:cNvPr>
          <p:cNvSpPr>
            <a:spLocks noGrp="1"/>
          </p:cNvSpPr>
          <p:nvPr>
            <p:ph idx="1"/>
          </p:nvPr>
        </p:nvSpPr>
        <p:spPr/>
        <p:txBody>
          <a:bodyPr>
            <a:normAutofit/>
          </a:bodyPr>
          <a:lstStyle/>
          <a:p>
            <a:r>
              <a:rPr lang="en-US" dirty="0"/>
              <a:t>Using Agile forces the student into a systems-thinking mindset</a:t>
            </a:r>
          </a:p>
          <a:p>
            <a:r>
              <a:rPr lang="en-US" dirty="0"/>
              <a:t>They must plan how the pieces work together, how to break down problems into manageable chunks, make strategic decisions about algorithms and data structures to meet the goal of the product</a:t>
            </a:r>
          </a:p>
          <a:p>
            <a:r>
              <a:rPr lang="en-US" dirty="0"/>
              <a:t>Faculty and TAs can focus on teaching these higher-level harder to learn skills while the student learns to communicate their design and manage the coding process</a:t>
            </a:r>
          </a:p>
          <a:p>
            <a:r>
              <a:rPr lang="en-US" dirty="0"/>
              <a:t>Bonus: A secondary specialized AI can monitor the student and provide hints/feedback on their design choices </a:t>
            </a:r>
          </a:p>
        </p:txBody>
      </p:sp>
    </p:spTree>
    <p:extLst>
      <p:ext uri="{BB962C8B-B14F-4D97-AF65-F5344CB8AC3E}">
        <p14:creationId xmlns:p14="http://schemas.microsoft.com/office/powerpoint/2010/main" val="3872618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60899-D2BC-B514-BE79-8515ECB88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971CC-D728-70C9-59B0-3DE27EDB2DD8}"/>
              </a:ext>
            </a:extLst>
          </p:cNvPr>
          <p:cNvSpPr>
            <a:spLocks noGrp="1"/>
          </p:cNvSpPr>
          <p:nvPr>
            <p:ph type="title"/>
          </p:nvPr>
        </p:nvSpPr>
        <p:spPr/>
        <p:txBody>
          <a:bodyPr/>
          <a:lstStyle/>
          <a:p>
            <a:r>
              <a:rPr lang="en-US" b="1" dirty="0"/>
              <a:t>Measuring Impact</a:t>
            </a:r>
          </a:p>
        </p:txBody>
      </p:sp>
      <p:sp>
        <p:nvSpPr>
          <p:cNvPr id="3" name="Content Placeholder 2">
            <a:extLst>
              <a:ext uri="{FF2B5EF4-FFF2-40B4-BE49-F238E27FC236}">
                <a16:creationId xmlns:a16="http://schemas.microsoft.com/office/drawing/2014/main" id="{406FA9EC-C80A-3163-EC6C-6DF3BE26DC3C}"/>
              </a:ext>
            </a:extLst>
          </p:cNvPr>
          <p:cNvSpPr>
            <a:spLocks noGrp="1"/>
          </p:cNvSpPr>
          <p:nvPr>
            <p:ph idx="1"/>
          </p:nvPr>
        </p:nvSpPr>
        <p:spPr/>
        <p:txBody>
          <a:bodyPr>
            <a:noAutofit/>
          </a:bodyPr>
          <a:lstStyle/>
          <a:p>
            <a:r>
              <a:rPr lang="en-US" sz="2400" b="1" dirty="0"/>
              <a:t>Student Cognitive Load: </a:t>
            </a:r>
            <a:r>
              <a:rPr lang="en-US" sz="2400" dirty="0"/>
              <a:t>measure (survey &amp; telemetry) to determine the cognitive load of the student during development</a:t>
            </a:r>
          </a:p>
          <a:p>
            <a:pPr lvl="1"/>
            <a:r>
              <a:rPr lang="en-US" dirty="0"/>
              <a:t>Prompt-to-Code Ratio: More prompt-writing vs error-debugging  indicates more systems level thinking vs bogged down in syntax</a:t>
            </a:r>
          </a:p>
          <a:p>
            <a:pPr lvl="1"/>
            <a:r>
              <a:rPr lang="en-US" dirty="0"/>
              <a:t>Time-to-Resolution: Does the time delta between a compiler error and fix decrease</a:t>
            </a:r>
          </a:p>
          <a:p>
            <a:pPr lvl="1"/>
            <a:r>
              <a:rPr lang="en-US" dirty="0"/>
              <a:t>The NASA Task Load Index: Does Agentic Agile drop Frustration while maintaining or increasing Mental Demand indicating students are thinking harder about the system but struggling less with the tools</a:t>
            </a:r>
          </a:p>
          <a:p>
            <a:r>
              <a:rPr lang="en-US" sz="2400" b="1" dirty="0"/>
              <a:t>Student Retention: </a:t>
            </a:r>
            <a:r>
              <a:rPr lang="en-US" sz="2400" dirty="0"/>
              <a:t>does allowing the use of AI for assisting in coding increase student retention as they can focus on the concepts and less on the syntax reducing burnout</a:t>
            </a:r>
          </a:p>
          <a:p>
            <a:endParaRPr lang="en-US" dirty="0"/>
          </a:p>
          <a:p>
            <a:pPr marL="0" indent="0">
              <a:buNone/>
            </a:pPr>
            <a:endParaRPr lang="en-US" sz="2400" dirty="0"/>
          </a:p>
        </p:txBody>
      </p:sp>
    </p:spTree>
    <p:extLst>
      <p:ext uri="{BB962C8B-B14F-4D97-AF65-F5344CB8AC3E}">
        <p14:creationId xmlns:p14="http://schemas.microsoft.com/office/powerpoint/2010/main" val="3253673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62524-F8E3-27E4-783A-C64B4053A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7CADD-D6F9-2678-6777-9350E6D3C6AB}"/>
              </a:ext>
            </a:extLst>
          </p:cNvPr>
          <p:cNvSpPr>
            <a:spLocks noGrp="1"/>
          </p:cNvSpPr>
          <p:nvPr>
            <p:ph type="title"/>
          </p:nvPr>
        </p:nvSpPr>
        <p:spPr/>
        <p:txBody>
          <a:bodyPr/>
          <a:lstStyle/>
          <a:p>
            <a:r>
              <a:rPr lang="en-US" b="1" dirty="0"/>
              <a:t>Measuring Impact</a:t>
            </a:r>
          </a:p>
        </p:txBody>
      </p:sp>
      <p:sp>
        <p:nvSpPr>
          <p:cNvPr id="3" name="Content Placeholder 2">
            <a:extLst>
              <a:ext uri="{FF2B5EF4-FFF2-40B4-BE49-F238E27FC236}">
                <a16:creationId xmlns:a16="http://schemas.microsoft.com/office/drawing/2014/main" id="{B6C6F3FB-8112-D4C6-1E02-19F497B76ED6}"/>
              </a:ext>
            </a:extLst>
          </p:cNvPr>
          <p:cNvSpPr>
            <a:spLocks noGrp="1"/>
          </p:cNvSpPr>
          <p:nvPr>
            <p:ph idx="1"/>
          </p:nvPr>
        </p:nvSpPr>
        <p:spPr/>
        <p:txBody>
          <a:bodyPr>
            <a:normAutofit/>
          </a:bodyPr>
          <a:lstStyle/>
          <a:p>
            <a:r>
              <a:rPr lang="en-US" b="1" dirty="0"/>
              <a:t>Student's Comprehension: </a:t>
            </a:r>
            <a:r>
              <a:rPr lang="en-US" dirty="0"/>
              <a:t>how well can they see the solution for a given problem, architect it, and define how to build it. Pen &amp; paper with system diagrams and pseudocode </a:t>
            </a:r>
          </a:p>
          <a:p>
            <a:r>
              <a:rPr lang="en-US" b="1" dirty="0"/>
              <a:t>Student's Coding Ability: </a:t>
            </a:r>
            <a:r>
              <a:rPr lang="en-US" dirty="0"/>
              <a:t>by doing peer reviews of AI generated code the student learns to translate concept to code making them more able to learn and retain vs a student who just one-shots a solution. Moreover, if we force a student to develop in an unfamiliar language it shouldn't matter, if they can define how things should work</a:t>
            </a:r>
            <a:endParaRPr lang="en-US" b="1" dirty="0"/>
          </a:p>
          <a:p>
            <a:pPr marL="0" indent="0">
              <a:buNone/>
            </a:pPr>
            <a:endParaRPr lang="en-US" dirty="0"/>
          </a:p>
        </p:txBody>
      </p:sp>
    </p:spTree>
    <p:extLst>
      <p:ext uri="{BB962C8B-B14F-4D97-AF65-F5344CB8AC3E}">
        <p14:creationId xmlns:p14="http://schemas.microsoft.com/office/powerpoint/2010/main" val="2338820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1E9F7-C56D-CF62-A432-FDBE86E59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13B92-0C26-397B-0BDA-D5927A08C82A}"/>
              </a:ext>
            </a:extLst>
          </p:cNvPr>
          <p:cNvSpPr>
            <a:spLocks noGrp="1"/>
          </p:cNvSpPr>
          <p:nvPr>
            <p:ph type="title"/>
          </p:nvPr>
        </p:nvSpPr>
        <p:spPr/>
        <p:txBody>
          <a:bodyPr/>
          <a:lstStyle/>
          <a:p>
            <a:r>
              <a:rPr lang="en-US" b="1" dirty="0"/>
              <a:t>Measuring Impact</a:t>
            </a:r>
          </a:p>
        </p:txBody>
      </p:sp>
      <p:sp>
        <p:nvSpPr>
          <p:cNvPr id="3" name="Content Placeholder 2">
            <a:extLst>
              <a:ext uri="{FF2B5EF4-FFF2-40B4-BE49-F238E27FC236}">
                <a16:creationId xmlns:a16="http://schemas.microsoft.com/office/drawing/2014/main" id="{9BA43494-56A2-35E0-650C-ABA6DD04FC9F}"/>
              </a:ext>
            </a:extLst>
          </p:cNvPr>
          <p:cNvSpPr>
            <a:spLocks noGrp="1"/>
          </p:cNvSpPr>
          <p:nvPr>
            <p:ph idx="1"/>
          </p:nvPr>
        </p:nvSpPr>
        <p:spPr/>
        <p:txBody>
          <a:bodyPr>
            <a:normAutofit/>
          </a:bodyPr>
          <a:lstStyle/>
          <a:p>
            <a:r>
              <a:rPr lang="en-US" b="1" dirty="0"/>
              <a:t>AI's Output Quality: </a:t>
            </a:r>
            <a:r>
              <a:rPr lang="en-US" dirty="0"/>
              <a:t>Giving the AI small well-defined tasks leads to better code. Measure code quality, performance, security audits, etc. </a:t>
            </a:r>
            <a:endParaRPr lang="en-US" b="1" dirty="0"/>
          </a:p>
          <a:p>
            <a:r>
              <a:rPr lang="en-US" b="1" dirty="0"/>
              <a:t>AI Interaction: </a:t>
            </a:r>
            <a:r>
              <a:rPr lang="en-US" dirty="0"/>
              <a:t>Small tasks lead to limited context windows which can keep the model from going off the rails. Couple this with feature-based engineering and the student will find they are needing to ask the AI to correct things less and are immune to when/if the AI does mess up (goes back to the prompt-to-code ratio)</a:t>
            </a:r>
          </a:p>
          <a:p>
            <a:endParaRPr lang="en-US" b="1" dirty="0"/>
          </a:p>
          <a:p>
            <a:pPr marL="0" indent="0">
              <a:buNone/>
            </a:pPr>
            <a:endParaRPr lang="en-US" dirty="0"/>
          </a:p>
        </p:txBody>
      </p:sp>
    </p:spTree>
    <p:extLst>
      <p:ext uri="{BB962C8B-B14F-4D97-AF65-F5344CB8AC3E}">
        <p14:creationId xmlns:p14="http://schemas.microsoft.com/office/powerpoint/2010/main" val="3070384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C7AF5-3234-4884-1AF1-F05EF52F7CCB}"/>
              </a:ext>
            </a:extLst>
          </p:cNvPr>
          <p:cNvSpPr>
            <a:spLocks noGrp="1"/>
          </p:cNvSpPr>
          <p:nvPr>
            <p:ph type="title"/>
          </p:nvPr>
        </p:nvSpPr>
        <p:spPr/>
        <p:txBody>
          <a:bodyPr/>
          <a:lstStyle/>
          <a:p>
            <a:r>
              <a:rPr lang="en-US" b="1" dirty="0"/>
              <a:t>Foundational Courses (COP 2271, 2273, CGS 2531)</a:t>
            </a:r>
          </a:p>
        </p:txBody>
      </p:sp>
      <p:sp>
        <p:nvSpPr>
          <p:cNvPr id="3" name="Content Placeholder 2">
            <a:extLst>
              <a:ext uri="{FF2B5EF4-FFF2-40B4-BE49-F238E27FC236}">
                <a16:creationId xmlns:a16="http://schemas.microsoft.com/office/drawing/2014/main" id="{81DC64B9-7CC5-26F8-DBBB-1CAAED3A2941}"/>
              </a:ext>
            </a:extLst>
          </p:cNvPr>
          <p:cNvSpPr>
            <a:spLocks noGrp="1"/>
          </p:cNvSpPr>
          <p:nvPr>
            <p:ph idx="1"/>
          </p:nvPr>
        </p:nvSpPr>
        <p:spPr/>
        <p:txBody>
          <a:bodyPr>
            <a:normAutofit/>
          </a:bodyPr>
          <a:lstStyle/>
          <a:p>
            <a:r>
              <a:rPr lang="en-US" b="1" dirty="0"/>
              <a:t>Paradigm Shift:</a:t>
            </a:r>
            <a:r>
              <a:rPr lang="en-US" dirty="0"/>
              <a:t> Moving from syntax memorization to the </a:t>
            </a:r>
            <a:r>
              <a:rPr lang="en-US" i="1" dirty="0"/>
              <a:t>Digital </a:t>
            </a:r>
            <a:r>
              <a:rPr lang="en-US" i="1" dirty="0" err="1"/>
              <a:t>Tradescraft</a:t>
            </a:r>
            <a:r>
              <a:rPr lang="en-US" dirty="0"/>
              <a:t> model</a:t>
            </a:r>
          </a:p>
          <a:p>
            <a:r>
              <a:rPr lang="en-US" b="1" dirty="0"/>
              <a:t>Elevated Cognitive Focus:</a:t>
            </a:r>
            <a:r>
              <a:rPr lang="en-US" dirty="0"/>
              <a:t> Local LLMs handle boilerplate; freshmen master "Thinking like a programmer" using AI as </a:t>
            </a:r>
            <a:r>
              <a:rPr lang="en-US"/>
              <a:t>a pair-programmer</a:t>
            </a:r>
            <a:endParaRPr lang="en-US" dirty="0"/>
          </a:p>
          <a:p>
            <a:r>
              <a:rPr lang="en-US" b="1" dirty="0"/>
              <a:t>The Multiplier Effect:</a:t>
            </a:r>
            <a:r>
              <a:rPr lang="en-US" dirty="0"/>
              <a:t> Training Ph.D. TAs to assess students using AI workflows, exporting UF’s methodology nationwide</a:t>
            </a:r>
          </a:p>
        </p:txBody>
      </p:sp>
    </p:spTree>
    <p:extLst>
      <p:ext uri="{BB962C8B-B14F-4D97-AF65-F5344CB8AC3E}">
        <p14:creationId xmlns:p14="http://schemas.microsoft.com/office/powerpoint/2010/main" val="413311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AA8F6-C511-B3B8-635E-F05E9E1CB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60B7A-3F08-D95A-AEF5-C737A008FE39}"/>
              </a:ext>
            </a:extLst>
          </p:cNvPr>
          <p:cNvSpPr>
            <a:spLocks noGrp="1"/>
          </p:cNvSpPr>
          <p:nvPr>
            <p:ph type="title"/>
          </p:nvPr>
        </p:nvSpPr>
        <p:spPr/>
        <p:txBody>
          <a:bodyPr/>
          <a:lstStyle/>
          <a:p>
            <a:r>
              <a:rPr lang="en-US" b="1" dirty="0"/>
              <a:t>Design &amp; Fundamentals Core (EGN 2020C &amp; EEL 3872)</a:t>
            </a:r>
          </a:p>
        </p:txBody>
      </p:sp>
      <p:sp>
        <p:nvSpPr>
          <p:cNvPr id="3" name="Content Placeholder 2">
            <a:extLst>
              <a:ext uri="{FF2B5EF4-FFF2-40B4-BE49-F238E27FC236}">
                <a16:creationId xmlns:a16="http://schemas.microsoft.com/office/drawing/2014/main" id="{AE922EB2-2C1F-8804-094A-261F034ED135}"/>
              </a:ext>
            </a:extLst>
          </p:cNvPr>
          <p:cNvSpPr>
            <a:spLocks noGrp="1"/>
          </p:cNvSpPr>
          <p:nvPr>
            <p:ph idx="1"/>
          </p:nvPr>
        </p:nvSpPr>
        <p:spPr/>
        <p:txBody>
          <a:bodyPr>
            <a:normAutofit/>
          </a:bodyPr>
          <a:lstStyle/>
          <a:p>
            <a:r>
              <a:rPr lang="en-US" b="1" dirty="0"/>
              <a:t>Contextual Failure (EGN 2020C):</a:t>
            </a:r>
            <a:r>
              <a:rPr lang="en-US" dirty="0"/>
              <a:t> Teaching freshmen that AI models failing across cultural contexts is a catastrophic engineering failure</a:t>
            </a:r>
          </a:p>
          <a:p>
            <a:r>
              <a:rPr lang="en-US" b="1" dirty="0"/>
              <a:t>Infinite TA (EEL 3872):</a:t>
            </a:r>
            <a:r>
              <a:rPr lang="en-US" dirty="0"/>
              <a:t> Deploying Personal AI to scale individualized learning and introducing </a:t>
            </a:r>
            <a:r>
              <a:rPr lang="en-US" i="1" dirty="0"/>
              <a:t>Agentic Agile</a:t>
            </a:r>
            <a:endParaRPr lang="en-US" dirty="0"/>
          </a:p>
          <a:p>
            <a:r>
              <a:rPr lang="en-US" b="1" dirty="0"/>
              <a:t>Pedagogical Lab:</a:t>
            </a:r>
            <a:r>
              <a:rPr lang="en-US" dirty="0"/>
              <a:t> </a:t>
            </a:r>
            <a:r>
              <a:rPr lang="en-US" dirty="0" err="1"/>
              <a:t>EEd</a:t>
            </a:r>
            <a:r>
              <a:rPr lang="en-US" dirty="0"/>
              <a:t> Grad Students manage these AI-augmented sections, shifting their future roles from syntax-graders to high-level mentors</a:t>
            </a:r>
          </a:p>
        </p:txBody>
      </p:sp>
    </p:spTree>
    <p:extLst>
      <p:ext uri="{BB962C8B-B14F-4D97-AF65-F5344CB8AC3E}">
        <p14:creationId xmlns:p14="http://schemas.microsoft.com/office/powerpoint/2010/main" val="3562609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91CBB-CF87-B4BB-4D0A-7233036FD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D14C6-2EBD-64DB-7463-4A8494657623}"/>
              </a:ext>
            </a:extLst>
          </p:cNvPr>
          <p:cNvSpPr>
            <a:spLocks noGrp="1"/>
          </p:cNvSpPr>
          <p:nvPr>
            <p:ph type="title"/>
          </p:nvPr>
        </p:nvSpPr>
        <p:spPr/>
        <p:txBody>
          <a:bodyPr/>
          <a:lstStyle/>
          <a:p>
            <a:r>
              <a:rPr lang="en-US" b="1" dirty="0" err="1"/>
              <a:t>SoTL</a:t>
            </a:r>
            <a:r>
              <a:rPr lang="en-US" b="1" dirty="0"/>
              <a:t> Research (EGS 6012 &amp; EGS 6056)</a:t>
            </a:r>
          </a:p>
        </p:txBody>
      </p:sp>
      <p:sp>
        <p:nvSpPr>
          <p:cNvPr id="3" name="Content Placeholder 2">
            <a:extLst>
              <a:ext uri="{FF2B5EF4-FFF2-40B4-BE49-F238E27FC236}">
                <a16:creationId xmlns:a16="http://schemas.microsoft.com/office/drawing/2014/main" id="{FC0AAA7E-0869-E7E8-ACC6-A5270AC845DC}"/>
              </a:ext>
            </a:extLst>
          </p:cNvPr>
          <p:cNvSpPr>
            <a:spLocks noGrp="1"/>
          </p:cNvSpPr>
          <p:nvPr>
            <p:ph idx="1"/>
          </p:nvPr>
        </p:nvSpPr>
        <p:spPr/>
        <p:txBody>
          <a:bodyPr>
            <a:normAutofit/>
          </a:bodyPr>
          <a:lstStyle/>
          <a:p>
            <a:r>
              <a:rPr lang="en-US" b="1" dirty="0"/>
              <a:t>The Living Laboratory:</a:t>
            </a:r>
            <a:r>
              <a:rPr lang="en-US" dirty="0"/>
              <a:t> </a:t>
            </a:r>
            <a:r>
              <a:rPr lang="en-US" dirty="0" err="1"/>
              <a:t>Undegraduate</a:t>
            </a:r>
            <a:r>
              <a:rPr lang="en-US" dirty="0"/>
              <a:t> "Agentic Agile" telemetry serves as the dataset</a:t>
            </a:r>
          </a:p>
          <a:p>
            <a:r>
              <a:rPr lang="en-US" b="1" dirty="0"/>
              <a:t>Analysis:</a:t>
            </a:r>
            <a:r>
              <a:rPr lang="en-US" dirty="0"/>
              <a:t> Partnering with </a:t>
            </a:r>
            <a:r>
              <a:rPr lang="en-US" dirty="0" err="1"/>
              <a:t>EEd</a:t>
            </a:r>
            <a:r>
              <a:rPr lang="en-US" dirty="0"/>
              <a:t> grad students, other faculty (in and out of </a:t>
            </a:r>
            <a:r>
              <a:rPr lang="en-US" dirty="0" err="1"/>
              <a:t>EEd</a:t>
            </a:r>
            <a:r>
              <a:rPr lang="en-US" dirty="0"/>
              <a:t>) to analyze Personal AI cognitive impacts</a:t>
            </a:r>
          </a:p>
          <a:p>
            <a:r>
              <a:rPr lang="en-US" b="1" dirty="0"/>
              <a:t>Publication:</a:t>
            </a:r>
            <a:r>
              <a:rPr lang="en-US" dirty="0"/>
              <a:t> Sustainable, built-in model for high-impact pedagogy research </a:t>
            </a:r>
          </a:p>
        </p:txBody>
      </p:sp>
    </p:spTree>
    <p:extLst>
      <p:ext uri="{BB962C8B-B14F-4D97-AF65-F5344CB8AC3E}">
        <p14:creationId xmlns:p14="http://schemas.microsoft.com/office/powerpoint/2010/main" val="537049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775E5-3C48-04C7-8FDB-2B7C57EFBC94}"/>
              </a:ext>
            </a:extLst>
          </p:cNvPr>
          <p:cNvSpPr>
            <a:spLocks noGrp="1"/>
          </p:cNvSpPr>
          <p:nvPr>
            <p:ph type="title"/>
          </p:nvPr>
        </p:nvSpPr>
        <p:spPr/>
        <p:txBody>
          <a:bodyPr/>
          <a:lstStyle/>
          <a:p>
            <a:r>
              <a:rPr lang="en-US" b="1" dirty="0"/>
              <a:t>Cross-Functional Capstones (IPPD)</a:t>
            </a:r>
          </a:p>
        </p:txBody>
      </p:sp>
      <p:sp>
        <p:nvSpPr>
          <p:cNvPr id="3" name="Content Placeholder 2">
            <a:extLst>
              <a:ext uri="{FF2B5EF4-FFF2-40B4-BE49-F238E27FC236}">
                <a16:creationId xmlns:a16="http://schemas.microsoft.com/office/drawing/2014/main" id="{2D048EAB-CD43-660B-4085-AAE6A2163A3D}"/>
              </a:ext>
            </a:extLst>
          </p:cNvPr>
          <p:cNvSpPr>
            <a:spLocks noGrp="1"/>
          </p:cNvSpPr>
          <p:nvPr>
            <p:ph idx="1"/>
          </p:nvPr>
        </p:nvSpPr>
        <p:spPr/>
        <p:txBody>
          <a:bodyPr>
            <a:normAutofit/>
          </a:bodyPr>
          <a:lstStyle/>
          <a:p>
            <a:r>
              <a:rPr lang="en-US" b="1" dirty="0"/>
              <a:t>Beyond the Silo:</a:t>
            </a:r>
            <a:r>
              <a:rPr lang="en-US" dirty="0"/>
              <a:t> Expanding AI capstones to include non-engineering majors, e.g., public policy, sociology, journalism, health majors, etc.</a:t>
            </a:r>
          </a:p>
          <a:p>
            <a:r>
              <a:rPr lang="en-US" b="1" dirty="0"/>
              <a:t>Building for Humans:</a:t>
            </a:r>
            <a:r>
              <a:rPr lang="en-US" dirty="0"/>
              <a:t> Forcing technical students to align AI models with human-centric domains. Further forcing connection to the messy real world</a:t>
            </a:r>
          </a:p>
          <a:p>
            <a:r>
              <a:rPr lang="en-US" b="1" dirty="0"/>
              <a:t>Covert Pedagogy:</a:t>
            </a:r>
            <a:r>
              <a:rPr lang="en-US" dirty="0"/>
              <a:t> When engineers must explain complex AI pipelines to non-technical stakeholders, they master leadership and teaching skills</a:t>
            </a:r>
          </a:p>
        </p:txBody>
      </p:sp>
    </p:spTree>
    <p:extLst>
      <p:ext uri="{BB962C8B-B14F-4D97-AF65-F5344CB8AC3E}">
        <p14:creationId xmlns:p14="http://schemas.microsoft.com/office/powerpoint/2010/main" val="3582399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B221CCE6-35CE-5D65-24D0-99EF32844548}"/>
              </a:ext>
            </a:extLst>
          </p:cNvPr>
          <p:cNvSpPr/>
          <p:nvPr/>
        </p:nvSpPr>
        <p:spPr>
          <a:xfrm>
            <a:off x="3287470" y="0"/>
            <a:ext cx="6278880" cy="4185920"/>
          </a:xfrm>
          <a:custGeom>
            <a:avLst/>
            <a:gdLst>
              <a:gd name="csX0" fmla="*/ 883920 w 6278880"/>
              <a:gd name="csY0" fmla="*/ 2651760 h 4185920"/>
              <a:gd name="csX1" fmla="*/ 0 w 6278880"/>
              <a:gd name="csY1" fmla="*/ 1666240 h 4185920"/>
              <a:gd name="csX2" fmla="*/ 30480 w 6278880"/>
              <a:gd name="csY2" fmla="*/ 1209040 h 4185920"/>
              <a:gd name="csX3" fmla="*/ 508000 w 6278880"/>
              <a:gd name="csY3" fmla="*/ 944880 h 4185920"/>
              <a:gd name="csX4" fmla="*/ 2001520 w 6278880"/>
              <a:gd name="csY4" fmla="*/ 792480 h 4185920"/>
              <a:gd name="csX5" fmla="*/ 2682240 w 6278880"/>
              <a:gd name="csY5" fmla="*/ 629920 h 4185920"/>
              <a:gd name="csX6" fmla="*/ 3129280 w 6278880"/>
              <a:gd name="csY6" fmla="*/ 213360 h 4185920"/>
              <a:gd name="csX7" fmla="*/ 4023360 w 6278880"/>
              <a:gd name="csY7" fmla="*/ 0 h 4185920"/>
              <a:gd name="csX8" fmla="*/ 5161280 w 6278880"/>
              <a:gd name="csY8" fmla="*/ 254000 h 4185920"/>
              <a:gd name="csX9" fmla="*/ 6146800 w 6278880"/>
              <a:gd name="csY9" fmla="*/ 1361440 h 4185920"/>
              <a:gd name="csX10" fmla="*/ 6278880 w 6278880"/>
              <a:gd name="csY10" fmla="*/ 2783840 h 4185920"/>
              <a:gd name="csX11" fmla="*/ 5679440 w 6278880"/>
              <a:gd name="csY11" fmla="*/ 4074160 h 4185920"/>
              <a:gd name="csX12" fmla="*/ 3434080 w 6278880"/>
              <a:gd name="csY12" fmla="*/ 4185920 h 4185920"/>
              <a:gd name="csX13" fmla="*/ 1259840 w 6278880"/>
              <a:gd name="csY13" fmla="*/ 2885440 h 4185920"/>
              <a:gd name="csX14" fmla="*/ 883920 w 6278880"/>
              <a:gd name="csY14" fmla="*/ 2651760 h 4185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278880" h="4185920">
                <a:moveTo>
                  <a:pt x="883920" y="2651760"/>
                </a:moveTo>
                <a:lnTo>
                  <a:pt x="0" y="1666240"/>
                </a:lnTo>
                <a:lnTo>
                  <a:pt x="30480" y="1209040"/>
                </a:lnTo>
                <a:lnTo>
                  <a:pt x="508000" y="944880"/>
                </a:lnTo>
                <a:lnTo>
                  <a:pt x="2001520" y="792480"/>
                </a:lnTo>
                <a:lnTo>
                  <a:pt x="2682240" y="629920"/>
                </a:lnTo>
                <a:lnTo>
                  <a:pt x="3129280" y="213360"/>
                </a:lnTo>
                <a:lnTo>
                  <a:pt x="4023360" y="0"/>
                </a:lnTo>
                <a:lnTo>
                  <a:pt x="5161280" y="254000"/>
                </a:lnTo>
                <a:lnTo>
                  <a:pt x="6146800" y="1361440"/>
                </a:lnTo>
                <a:lnTo>
                  <a:pt x="6278880" y="2783840"/>
                </a:lnTo>
                <a:lnTo>
                  <a:pt x="5679440" y="4074160"/>
                </a:lnTo>
                <a:lnTo>
                  <a:pt x="3434080" y="4185920"/>
                </a:lnTo>
                <a:lnTo>
                  <a:pt x="1259840" y="2885440"/>
                </a:lnTo>
                <a:lnTo>
                  <a:pt x="883920" y="2651760"/>
                </a:lnTo>
                <a:close/>
              </a:path>
            </a:pathLst>
          </a:cu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10000"/>
                  <a:lumOff val="90000"/>
                </a:schemeClr>
              </a:solidFill>
            </a:endParaRPr>
          </a:p>
        </p:txBody>
      </p:sp>
      <p:graphicFrame>
        <p:nvGraphicFramePr>
          <p:cNvPr id="5" name="Diagram 4">
            <a:extLst>
              <a:ext uri="{FF2B5EF4-FFF2-40B4-BE49-F238E27FC236}">
                <a16:creationId xmlns:a16="http://schemas.microsoft.com/office/drawing/2014/main" id="{EEC43CE6-64DB-870A-21C4-6EB5F09E09E0}"/>
              </a:ext>
            </a:extLst>
          </p:cNvPr>
          <p:cNvGraphicFramePr/>
          <p:nvPr>
            <p:extLst>
              <p:ext uri="{D42A27DB-BD31-4B8C-83A1-F6EECF244321}">
                <p14:modId xmlns:p14="http://schemas.microsoft.com/office/powerpoint/2010/main" val="120310523"/>
              </p:ext>
            </p:extLst>
          </p:nvPr>
        </p:nvGraphicFramePr>
        <p:xfrm>
          <a:off x="355600" y="264160"/>
          <a:ext cx="11531600" cy="619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7046EA02-307B-B199-66C5-499C13ED1191}"/>
              </a:ext>
            </a:extLst>
          </p:cNvPr>
          <p:cNvSpPr txBox="1"/>
          <p:nvPr/>
        </p:nvSpPr>
        <p:spPr>
          <a:xfrm>
            <a:off x="4749463" y="5627514"/>
            <a:ext cx="7287957" cy="769441"/>
          </a:xfrm>
          <a:prstGeom prst="rect">
            <a:avLst/>
          </a:prstGeom>
          <a:noFill/>
        </p:spPr>
        <p:txBody>
          <a:bodyPr wrap="none" rtlCol="0">
            <a:spAutoFit/>
          </a:bodyPr>
          <a:lstStyle/>
          <a:p>
            <a:r>
              <a:rPr lang="en-US" sz="4400" b="1" dirty="0"/>
              <a:t>Complexity of AI Integration</a:t>
            </a:r>
          </a:p>
        </p:txBody>
      </p:sp>
      <p:sp>
        <p:nvSpPr>
          <p:cNvPr id="7" name="TextBox 6">
            <a:extLst>
              <a:ext uri="{FF2B5EF4-FFF2-40B4-BE49-F238E27FC236}">
                <a16:creationId xmlns:a16="http://schemas.microsoft.com/office/drawing/2014/main" id="{01631880-6588-E336-D5B1-2F5ECD1065A9}"/>
              </a:ext>
            </a:extLst>
          </p:cNvPr>
          <p:cNvSpPr txBox="1"/>
          <p:nvPr/>
        </p:nvSpPr>
        <p:spPr>
          <a:xfrm>
            <a:off x="355600" y="3698577"/>
            <a:ext cx="2180742" cy="2031325"/>
          </a:xfrm>
          <a:prstGeom prst="rect">
            <a:avLst/>
          </a:prstGeom>
          <a:noFill/>
        </p:spPr>
        <p:txBody>
          <a:bodyPr wrap="square" rtlCol="0">
            <a:spAutoFit/>
          </a:bodyPr>
          <a:lstStyle/>
          <a:p>
            <a:r>
              <a:rPr lang="en-US" b="1" dirty="0"/>
              <a:t>Personal AI</a:t>
            </a:r>
          </a:p>
          <a:p>
            <a:pPr marL="285750" indent="-285750">
              <a:buFont typeface="Arial" panose="020B0604020202020204" pitchFamily="34" charset="0"/>
              <a:buChar char="•"/>
            </a:pPr>
            <a:r>
              <a:rPr lang="en-US" dirty="0"/>
              <a:t>Boilerplate</a:t>
            </a:r>
          </a:p>
          <a:p>
            <a:pPr marL="285750" indent="-285750">
              <a:buFont typeface="Arial" panose="020B0604020202020204" pitchFamily="34" charset="0"/>
              <a:buChar char="•"/>
            </a:pPr>
            <a:r>
              <a:rPr lang="en-US" dirty="0"/>
              <a:t>Pair Programmer</a:t>
            </a:r>
          </a:p>
          <a:p>
            <a:r>
              <a:rPr lang="en-US" b="1" dirty="0"/>
              <a:t>Agentic Agile </a:t>
            </a:r>
          </a:p>
          <a:p>
            <a:r>
              <a:rPr lang="en-US" b="1" dirty="0"/>
              <a:t>(Scaffolded Prompting)</a:t>
            </a: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85D146D6-1761-4844-AC55-7DEFA0501552}"/>
              </a:ext>
            </a:extLst>
          </p:cNvPr>
          <p:cNvSpPr txBox="1"/>
          <p:nvPr/>
        </p:nvSpPr>
        <p:spPr>
          <a:xfrm>
            <a:off x="1756054" y="1864757"/>
            <a:ext cx="2006903" cy="2585323"/>
          </a:xfrm>
          <a:prstGeom prst="rect">
            <a:avLst/>
          </a:prstGeom>
          <a:noFill/>
        </p:spPr>
        <p:txBody>
          <a:bodyPr wrap="square" rtlCol="0">
            <a:spAutoFit/>
          </a:bodyPr>
          <a:lstStyle/>
          <a:p>
            <a:r>
              <a:rPr lang="en-US" b="1" dirty="0"/>
              <a:t>Personal AI</a:t>
            </a:r>
          </a:p>
          <a:p>
            <a:r>
              <a:rPr lang="en-US" b="1" dirty="0"/>
              <a:t>Agentic Agile</a:t>
            </a:r>
          </a:p>
          <a:p>
            <a:pPr marL="285750" indent="-285750">
              <a:buFont typeface="Arial" panose="020B0604020202020204" pitchFamily="34" charset="0"/>
              <a:buChar char="•"/>
            </a:pPr>
            <a:r>
              <a:rPr lang="en-US" dirty="0"/>
              <a:t>Student focuses on data structure and algorithm selection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1" name="TextBox 10">
            <a:extLst>
              <a:ext uri="{FF2B5EF4-FFF2-40B4-BE49-F238E27FC236}">
                <a16:creationId xmlns:a16="http://schemas.microsoft.com/office/drawing/2014/main" id="{94522B37-A4F2-E397-8277-A90D3E9B37B2}"/>
              </a:ext>
            </a:extLst>
          </p:cNvPr>
          <p:cNvSpPr txBox="1"/>
          <p:nvPr/>
        </p:nvSpPr>
        <p:spPr>
          <a:xfrm>
            <a:off x="3891126" y="910491"/>
            <a:ext cx="2383942" cy="2585323"/>
          </a:xfrm>
          <a:prstGeom prst="rect">
            <a:avLst/>
          </a:prstGeom>
          <a:noFill/>
        </p:spPr>
        <p:txBody>
          <a:bodyPr wrap="square" rtlCol="0">
            <a:spAutoFit/>
          </a:bodyPr>
          <a:lstStyle/>
          <a:p>
            <a:r>
              <a:rPr lang="en-US" b="1" dirty="0"/>
              <a:t>Personal AI</a:t>
            </a:r>
          </a:p>
          <a:p>
            <a:r>
              <a:rPr lang="en-US" b="1" dirty="0"/>
              <a:t>Agentic Agile</a:t>
            </a:r>
          </a:p>
          <a:p>
            <a:pPr marL="285750" indent="-285750">
              <a:buFont typeface="Arial" panose="020B0604020202020204" pitchFamily="34" charset="0"/>
              <a:buChar char="•"/>
            </a:pPr>
            <a:r>
              <a:rPr lang="en-US" dirty="0"/>
              <a:t>Industry / Grad Prep</a:t>
            </a:r>
          </a:p>
          <a:p>
            <a:pPr marL="285750" indent="-285750">
              <a:buFont typeface="Arial" panose="020B0604020202020204" pitchFamily="34" charset="0"/>
              <a:buChar char="•"/>
            </a:pPr>
            <a:r>
              <a:rPr lang="en-US" dirty="0"/>
              <a:t>Managing AI Agents</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95A07732-4A01-D7A9-618B-714BD6FBF76E}"/>
              </a:ext>
            </a:extLst>
          </p:cNvPr>
          <p:cNvSpPr txBox="1"/>
          <p:nvPr/>
        </p:nvSpPr>
        <p:spPr>
          <a:xfrm>
            <a:off x="6549032" y="386080"/>
            <a:ext cx="2383942" cy="1754326"/>
          </a:xfrm>
          <a:prstGeom prst="rect">
            <a:avLst/>
          </a:prstGeom>
          <a:noFill/>
        </p:spPr>
        <p:txBody>
          <a:bodyPr wrap="square" rtlCol="0">
            <a:spAutoFit/>
          </a:bodyPr>
          <a:lstStyle/>
          <a:p>
            <a:r>
              <a:rPr lang="en-US" b="1" dirty="0"/>
              <a:t>Personal AI</a:t>
            </a:r>
          </a:p>
          <a:p>
            <a:r>
              <a:rPr lang="en-US" b="1" dirty="0"/>
              <a:t>Agentic Agile</a:t>
            </a:r>
          </a:p>
          <a:p>
            <a:r>
              <a:rPr lang="en-US" b="1" dirty="0"/>
              <a:t>Research Assistant</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3" name="TextBox 12">
            <a:extLst>
              <a:ext uri="{FF2B5EF4-FFF2-40B4-BE49-F238E27FC236}">
                <a16:creationId xmlns:a16="http://schemas.microsoft.com/office/drawing/2014/main" id="{F1F8AAAA-6F08-1A7A-23A5-22E6BA1CC810}"/>
              </a:ext>
            </a:extLst>
          </p:cNvPr>
          <p:cNvSpPr txBox="1"/>
          <p:nvPr/>
        </p:nvSpPr>
        <p:spPr>
          <a:xfrm>
            <a:off x="1920240" y="137879"/>
            <a:ext cx="3722729" cy="646331"/>
          </a:xfrm>
          <a:prstGeom prst="rect">
            <a:avLst/>
          </a:prstGeom>
          <a:noFill/>
        </p:spPr>
        <p:txBody>
          <a:bodyPr wrap="square" rtlCol="0">
            <a:spAutoFit/>
          </a:bodyPr>
          <a:lstStyle/>
          <a:p>
            <a:r>
              <a:rPr lang="en-US" b="1" dirty="0">
                <a:solidFill>
                  <a:schemeClr val="tx2">
                    <a:lumMod val="75000"/>
                    <a:lumOff val="25000"/>
                  </a:schemeClr>
                </a:solidFill>
              </a:rPr>
              <a:t>Knowing a specific programming language is no longer a barrier</a:t>
            </a:r>
          </a:p>
        </p:txBody>
      </p:sp>
    </p:spTree>
    <p:extLst>
      <p:ext uri="{BB962C8B-B14F-4D97-AF65-F5344CB8AC3E}">
        <p14:creationId xmlns:p14="http://schemas.microsoft.com/office/powerpoint/2010/main" val="1251874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1540</TotalTime>
  <Words>2411</Words>
  <Application>Microsoft Macintosh PowerPoint</Application>
  <PresentationFormat>Widescreen</PresentationFormat>
  <Paragraphs>145</Paragraphs>
  <Slides>20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Vision</vt:lpstr>
      <vt:lpstr>Path to the Classroom: An Industry Perspective</vt:lpstr>
      <vt:lpstr>The Skills Divide</vt:lpstr>
      <vt:lpstr>AI can bridge or enlarge the divide</vt:lpstr>
      <vt:lpstr>What does this mean for education?</vt:lpstr>
      <vt:lpstr>How do we bridge the gap?</vt:lpstr>
      <vt:lpstr>Personal AI </vt:lpstr>
      <vt:lpstr>Personal AI empowers the student</vt:lpstr>
      <vt:lpstr>Incorporating Personal AI in the classroom</vt:lpstr>
      <vt:lpstr>How AI can be a partner in the learning process? </vt:lpstr>
      <vt:lpstr>Agentic Agile</vt:lpstr>
      <vt:lpstr>Agentic Agile</vt:lpstr>
      <vt:lpstr>Measuring Impact</vt:lpstr>
      <vt:lpstr>Measuring Impact</vt:lpstr>
      <vt:lpstr>Measuring Impact</vt:lpstr>
      <vt:lpstr>Foundational Courses (COP 2271, 2273, CGS 2531)</vt:lpstr>
      <vt:lpstr>Design &amp; Fundamentals Core (EGN 2020C &amp; EEL 3872)</vt:lpstr>
      <vt:lpstr>SoTL Research (EGS 6012 &amp; EGS 6056)</vt:lpstr>
      <vt:lpstr>Cross-Functional Capstones (IPPD)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Bracewell</dc:creator>
  <cp:lastModifiedBy>David Bracewell</cp:lastModifiedBy>
  <cp:revision>62</cp:revision>
  <dcterms:created xsi:type="dcterms:W3CDTF">2026-06-23T00:20:23Z</dcterms:created>
  <dcterms:modified xsi:type="dcterms:W3CDTF">2026-06-29T10:40:31Z</dcterms:modified>
</cp:coreProperties>
</file>